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140" autoAdjust="0"/>
  </p:normalViewPr>
  <p:slideViewPr>
    <p:cSldViewPr snapToGrid="0">
      <p:cViewPr varScale="1">
        <p:scale>
          <a:sx n="87" d="100"/>
          <a:sy n="87" d="100"/>
        </p:scale>
        <p:origin x="9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EADE551-CDB2-4CEE-AEC5-331CFFFA95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48BBA9-52B9-4437-9CD3-963D171C5FBA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90550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校园二手交易系统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C5EE4D-C7DF-4DD8-95DF-7202DFA3AFBC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数据库课程设计答辩</a:t>
            </a:r>
            <a:endParaRPr sz="1875" b="0" dirty="0">
              <a:solidFill>
                <a:srgbClr val="1D8C8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FD4380-5C01-46E1-8EA5-539B35B87F51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50" b="1" dirty="0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2026.9</a:t>
            </a:r>
            <a:endParaRPr sz="1050" b="1" dirty="0">
              <a:solidFill>
                <a:srgbClr val="F06C5D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t="17874" b="17874"/>
          <a:stretch>
            <a:fillRect/>
          </a:stretch>
        </p:blipFill>
        <p:spPr>
          <a:xfrm>
            <a:off x="7029450" y="533400"/>
            <a:ext cx="4514850" cy="1752600"/>
          </a:xfrm>
          <a:prstGeom prst="roundRect">
            <a:avLst>
              <a:gd name="adj" fmla="val 9783"/>
            </a:avLst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rcRect l="24926" r="24926"/>
          <a:stretch>
            <a:fillRect/>
          </a:stretch>
        </p:blipFill>
        <p:spPr>
          <a:xfrm>
            <a:off x="7029450" y="2552700"/>
            <a:ext cx="2152650" cy="3219450"/>
          </a:xfrm>
          <a:prstGeom prst="roundRect">
            <a:avLst>
              <a:gd name="adj" fmla="val 7965"/>
            </a:avLst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16568" r="16568"/>
          <a:stretch>
            <a:fillRect/>
          </a:stretch>
        </p:blipFill>
        <p:spPr>
          <a:xfrm>
            <a:off x="9391650" y="2552700"/>
            <a:ext cx="2152650" cy="3219450"/>
          </a:xfrm>
          <a:prstGeom prst="roundRect">
            <a:avLst>
              <a:gd name="adj" fmla="val 7965"/>
            </a:avLst>
          </a:prstGeom>
        </p:spPr>
      </p:pic>
    </p:spTree>
    <p:extLst>
      <p:ext uri="{BB962C8B-B14F-4D97-AF65-F5344CB8AC3E}">
        <p14:creationId xmlns:p14="http://schemas.microsoft.com/office/powerpoint/2010/main" val="135385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5AAAB53-EA28-4D12-9A68-C05D9C132A4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0C7455-CB5E-4F42-970B-A8C64FEA843E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C6A9294-D5C3-4731-823C-EDD957689BB1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B1D379-B61A-4652-9C0C-2D8FF55BF79A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7A5B90-8635-43F1-8A22-34B124AC4B9F}"/>
              </a:ext>
            </a:extLst>
          </p:cNvPr>
          <p:cNvSpPr>
            <a:spLocks noGrp="1"/>
          </p:cNvSpPr>
          <p:nvPr/>
        </p:nvSpPr>
        <p:spPr>
          <a:xfrm>
            <a:off x="1809750" y="14097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项目与功能范围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446233-64DE-4951-8DDA-DDCA42322584}"/>
              </a:ext>
            </a:extLst>
          </p:cNvPr>
          <p:cNvSpPr>
            <a:spLocks noGrp="1"/>
          </p:cNvSpPr>
          <p:nvPr/>
        </p:nvSpPr>
        <p:spPr>
          <a:xfrm>
            <a:off x="5619750" y="144780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项目简介、参与者、31 项功能需求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78CA3D-CFBD-45CF-8F41-438446206AA0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103822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C5522B-B0F5-4F76-BF04-727794DE2BDA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BC583B-FC05-41D1-A062-C5620388217F}"/>
              </a:ext>
            </a:extLst>
          </p:cNvPr>
          <p:cNvSpPr>
            <a:spLocks noGrp="1"/>
          </p:cNvSpPr>
          <p:nvPr/>
        </p:nvSpPr>
        <p:spPr>
          <a:xfrm>
            <a:off x="1809750" y="25146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D525DA-A8C4-419F-899B-D377935B59F8}"/>
              </a:ext>
            </a:extLst>
          </p:cNvPr>
          <p:cNvSpPr>
            <a:spLocks noGrp="1"/>
          </p:cNvSpPr>
          <p:nvPr/>
        </p:nvSpPr>
        <p:spPr>
          <a:xfrm>
            <a:off x="5619750" y="255270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分层架构、技术选型、交易状态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C30D89-BED5-4E69-909C-7F51F73A3B7E}"/>
              </a:ext>
            </a:extLst>
          </p:cNvPr>
          <p:cNvSpPr>
            <a:spLocks noGrp="1"/>
          </p:cNvSpPr>
          <p:nvPr/>
        </p:nvSpPr>
        <p:spPr>
          <a:xfrm>
            <a:off x="723900" y="3181350"/>
            <a:ext cx="103822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7A800C-59C2-4307-BB03-370039C6A185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AD255C-89A7-47B5-961D-5FA681459D96}"/>
              </a:ext>
            </a:extLst>
          </p:cNvPr>
          <p:cNvSpPr>
            <a:spLocks noGrp="1"/>
          </p:cNvSpPr>
          <p:nvPr/>
        </p:nvSpPr>
        <p:spPr>
          <a:xfrm>
            <a:off x="1809750" y="36195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数据库与关键实现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5D7487-36DA-4D41-80F4-7D9757BDA0C7}"/>
              </a:ext>
            </a:extLst>
          </p:cNvPr>
          <p:cNvSpPr>
            <a:spLocks noGrp="1"/>
          </p:cNvSpPr>
          <p:nvPr/>
        </p:nvSpPr>
        <p:spPr>
          <a:xfrm>
            <a:off x="5619750" y="365760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15 张表、封装层、下单事务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1C36AB-D961-452E-B5BF-99DC1202579F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03822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C905D3-F22B-4565-B0DC-FE5077BAB849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8953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5DF8AD-6AF5-467E-8FF9-2F1E965DCEB1}"/>
              </a:ext>
            </a:extLst>
          </p:cNvPr>
          <p:cNvSpPr>
            <a:spLocks noGrp="1"/>
          </p:cNvSpPr>
          <p:nvPr/>
        </p:nvSpPr>
        <p:spPr>
          <a:xfrm>
            <a:off x="1809750" y="4724400"/>
            <a:ext cx="3429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验证与总结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34CD3D-2556-47C4-8F61-23246887E5F8}"/>
              </a:ext>
            </a:extLst>
          </p:cNvPr>
          <p:cNvSpPr>
            <a:spLocks noGrp="1"/>
          </p:cNvSpPr>
          <p:nvPr/>
        </p:nvSpPr>
        <p:spPr>
          <a:xfrm>
            <a:off x="5619750" y="476250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测试场景、已实现内容、改进项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51E25A-0672-4353-9C4D-4C63DEA601C1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defRPr>
            </a:pPr>
            <a:endParaRPr sz="900" b="0" dirty="0">
              <a:solidFill>
                <a:srgbClr val="78879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154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D943DD0-73B9-4AD2-9165-FC261DE2170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B1C193-13A4-4A19-896E-FB285CB710F3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E7A5BAD-7051-461C-9FA1-6B3A0D60EFA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B78130-1AE2-4F0E-B1B9-BD1B62FA0C77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715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面向校内实名场景的二手物品交易与治理平台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531A2B-5D2B-4F6E-807C-F86D83D4228F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学生可以完成“发布—审核—沟通—下单—面交—评价”的闭环，管理员负责认证、商品和举报治理。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247C964-EF2F-478F-BC17-2D219CA467B5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5105400" cy="1123950"/>
          </a:xfrm>
          <a:prstGeom prst="roundRect">
            <a:avLst>
              <a:gd name="adj" fmla="val 11864"/>
            </a:avLst>
          </a:prstGeom>
          <a:solidFill>
            <a:srgbClr val="F3F8F8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F56D41-8B67-40BC-A994-46F68F85B64D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解决什么问题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7D8431-3DE5-4EF8-9C49-5359885C2978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46482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校园闲置物品信息分散、身份可信度低、线下交易缺少状态记录。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DB172D6-9E5A-4EA3-B0D5-E10EF9094BB4}"/>
              </a:ext>
            </a:extLst>
          </p:cNvPr>
          <p:cNvSpPr>
            <a:spLocks noGrp="1"/>
          </p:cNvSpPr>
          <p:nvPr/>
        </p:nvSpPr>
        <p:spPr>
          <a:xfrm>
            <a:off x="6096000" y="2647950"/>
            <a:ext cx="5105400" cy="1123950"/>
          </a:xfrm>
          <a:prstGeom prst="roundRect">
            <a:avLst>
              <a:gd name="adj" fmla="val 11864"/>
            </a:avLst>
          </a:prstGeom>
          <a:solidFill>
            <a:srgbClr val="F3F8F8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4236E1-8E99-42DB-80AA-621226BEA4EE}"/>
              </a:ext>
            </a:extLst>
          </p:cNvPr>
          <p:cNvSpPr>
            <a:spLocks noGrp="1"/>
          </p:cNvSpPr>
          <p:nvPr/>
        </p:nvSpPr>
        <p:spPr>
          <a:xfrm>
            <a:off x="6324600" y="28194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谁在使用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4F646F-2F1C-48C5-B5A6-EBF3FDCA39D7}"/>
              </a:ext>
            </a:extLst>
          </p:cNvPr>
          <p:cNvSpPr>
            <a:spLocks noGrp="1"/>
          </p:cNvSpPr>
          <p:nvPr/>
        </p:nvSpPr>
        <p:spPr>
          <a:xfrm>
            <a:off x="6324599" y="3162300"/>
            <a:ext cx="47720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访客浏览；学生同时作为买家和卖家；管理员完成审核与治理</a:t>
            </a:r>
            <a:r>
              <a:rPr sz="1275" b="0" dirty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BEBC3C0-CBF6-44C0-A796-865FBAF634BF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5105400" cy="1123950"/>
          </a:xfrm>
          <a:prstGeom prst="roundRect">
            <a:avLst>
              <a:gd name="adj" fmla="val 11864"/>
            </a:avLst>
          </a:prstGeom>
          <a:solidFill>
            <a:srgbClr val="F3F8F8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0575CC-8BC9-4003-93DD-0927ED018D07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怎样完成交易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6AFE03-20FA-4245-A684-601457A1384E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46482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商品审核通过后公开；下单锁定商品；预约面交；确认码完成交付。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20EF380-3889-438D-AA97-6626484471AC}"/>
              </a:ext>
            </a:extLst>
          </p:cNvPr>
          <p:cNvSpPr>
            <a:spLocks noGrp="1"/>
          </p:cNvSpPr>
          <p:nvPr/>
        </p:nvSpPr>
        <p:spPr>
          <a:xfrm>
            <a:off x="6096000" y="4076700"/>
            <a:ext cx="5105400" cy="1123950"/>
          </a:xfrm>
          <a:prstGeom prst="roundRect">
            <a:avLst>
              <a:gd name="adj" fmla="val 11864"/>
            </a:avLst>
          </a:prstGeom>
          <a:solidFill>
            <a:srgbClr val="FFF1EF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88996B8-E35F-4540-8B81-267F453E2BE5}"/>
              </a:ext>
            </a:extLst>
          </p:cNvPr>
          <p:cNvSpPr>
            <a:spLocks noGrp="1"/>
          </p:cNvSpPr>
          <p:nvPr/>
        </p:nvSpPr>
        <p:spPr>
          <a:xfrm>
            <a:off x="6324600" y="42481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项目规模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240FF5-55D1-4BD8-9F04-57B37CD0E1DF}"/>
              </a:ext>
            </a:extLst>
          </p:cNvPr>
          <p:cNvSpPr>
            <a:spLocks noGrp="1"/>
          </p:cNvSpPr>
          <p:nvPr/>
        </p:nvSpPr>
        <p:spPr>
          <a:xfrm>
            <a:off x="6324600" y="4591050"/>
            <a:ext cx="46482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31 项功能需求 · 15 张表 · 12 个控制器 · 12 个服务 · 11 个仓储。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8F69CB3-843E-41FA-9A36-3131B760507E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438150"/>
          </a:xfrm>
          <a:prstGeom prst="roundRect">
            <a:avLst>
              <a:gd name="adj" fmla="val 21739"/>
            </a:avLst>
          </a:prstGeom>
          <a:solidFill>
            <a:srgbClr val="DDF3EE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EC651F-CCD9-4ED6-B283-988388FE3344}"/>
              </a:ext>
            </a:extLst>
          </p:cNvPr>
          <p:cNvSpPr>
            <a:spLocks noGrp="1"/>
          </p:cNvSpPr>
          <p:nvPr/>
        </p:nvSpPr>
        <p:spPr>
          <a:xfrm>
            <a:off x="838200" y="57912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75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rPr>
              <a:t>技术形态：Vue 3 前端 + ASP.NET Core Web API + Dapper + Oracle 23c Free</a:t>
            </a:r>
          </a:p>
        </p:txBody>
      </p:sp>
    </p:spTree>
    <p:extLst>
      <p:ext uri="{BB962C8B-B14F-4D97-AF65-F5344CB8AC3E}">
        <p14:creationId xmlns:p14="http://schemas.microsoft.com/office/powerpoint/2010/main" val="198998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3298B3E-3C1E-41CB-AE12-24455EF0CF9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76C848-A138-4365-92A4-AE725F8641AB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A5E6284-87D2-44E3-8F2F-6D68A689445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629980-1A7E-44B4-A24E-9B24AA6B30FB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三类落到数据库的约束</a:t>
            </a:r>
            <a:endParaRPr sz="2175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736667-A90A-4EE4-8F37-77872B26035A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7810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A8B4C8-43A7-4203-AF46-2903C11F80E6}"/>
              </a:ext>
            </a:extLst>
          </p:cNvPr>
          <p:cNvSpPr>
            <a:spLocks noGrp="1"/>
          </p:cNvSpPr>
          <p:nvPr/>
        </p:nvSpPr>
        <p:spPr>
          <a:xfrm>
            <a:off x="1485900" y="22479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身份唯一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7C44A9-46DA-4FF0-B160-697AE1BAE062}"/>
              </a:ext>
            </a:extLst>
          </p:cNvPr>
          <p:cNvSpPr>
            <a:spLocks noGrp="1"/>
          </p:cNvSpPr>
          <p:nvPr/>
        </p:nvSpPr>
        <p:spPr>
          <a:xfrm>
            <a:off x="1485900" y="2724150"/>
            <a:ext cx="2381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username、student_id 唯一，user_id 在 student_auth 中唯一。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FAE3AE-8807-4962-8038-FDC372D4014A}"/>
              </a:ext>
            </a:extLst>
          </p:cNvPr>
          <p:cNvSpPr>
            <a:spLocks noGrp="1"/>
          </p:cNvSpPr>
          <p:nvPr/>
        </p:nvSpPr>
        <p:spPr>
          <a:xfrm>
            <a:off x="4038600" y="2228850"/>
            <a:ext cx="7810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8FD4B0-8FF7-4334-A95E-F8A8A808C4D6}"/>
              </a:ext>
            </a:extLst>
          </p:cNvPr>
          <p:cNvSpPr>
            <a:spLocks noGrp="1"/>
          </p:cNvSpPr>
          <p:nvPr/>
        </p:nvSpPr>
        <p:spPr>
          <a:xfrm>
            <a:off x="4838700" y="22479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商品公开条件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F9C99F-8125-49D7-9F90-9026FAE35BFC}"/>
              </a:ext>
            </a:extLst>
          </p:cNvPr>
          <p:cNvSpPr>
            <a:spLocks noGrp="1"/>
          </p:cNvSpPr>
          <p:nvPr/>
        </p:nvSpPr>
        <p:spPr>
          <a:xfrm>
            <a:off x="4838700" y="2724150"/>
            <a:ext cx="2381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只有 approved 进入公开列表，其余状态不可售。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804721-4357-4601-A884-621278AC24AB}"/>
              </a:ext>
            </a:extLst>
          </p:cNvPr>
          <p:cNvSpPr>
            <a:spLocks noGrp="1"/>
          </p:cNvSpPr>
          <p:nvPr/>
        </p:nvSpPr>
        <p:spPr>
          <a:xfrm>
            <a:off x="7391400" y="2228850"/>
            <a:ext cx="78105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FECA9C-557A-401E-8608-0E2BD8681034}"/>
              </a:ext>
            </a:extLst>
          </p:cNvPr>
          <p:cNvSpPr>
            <a:spLocks noGrp="1"/>
          </p:cNvSpPr>
          <p:nvPr/>
        </p:nvSpPr>
        <p:spPr>
          <a:xfrm>
            <a:off x="8191500" y="224790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跨表一致性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B1CA9C-DFBD-4A52-B591-26A37A5A9448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3812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下单、取消、面交和信用更新都在事务内完成。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EBFEF2-6853-4C4E-8514-5FBC39D4A19A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19050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EB81DE-A134-451F-85FF-A80C535A4A8B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性能要求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F18F51-DB79-46B0-970C-4C7401875275}"/>
              </a:ext>
            </a:extLst>
          </p:cNvPr>
          <p:cNvSpPr>
            <a:spLocks noGrp="1"/>
          </p:cNvSpPr>
          <p:nvPr/>
        </p:nvSpPr>
        <p:spPr>
          <a:xfrm>
            <a:off x="2133600" y="4438650"/>
            <a:ext cx="92392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课程验收环境下，10 </a:t>
            </a:r>
            <a:r>
              <a:rPr sz="18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个并发会话时常用查询和事务接口</a:t>
            </a:r>
            <a:r>
              <a:rPr lang="zh-CN" altLang="en-US" sz="18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能正常</a:t>
            </a:r>
            <a:r>
              <a:rPr sz="18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响应</a:t>
            </a:r>
            <a:r>
              <a:rPr sz="18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5613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5E3FD6B-C19D-4A7A-B993-AC28C171105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用户角色与权限边界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4544E4-0EE5-4EDF-955C-921EB353B2D6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5689922-1D72-4EAC-8E62-65F82CF71C2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F7C3EB-201D-447A-B231-FA559BAE85D9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38100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四类主体，权限</a:t>
            </a:r>
            <a:r>
              <a:rPr lang="zh-CN" altLang="en-US" sz="2100" b="1" dirty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不同</a:t>
            </a:r>
            <a:endParaRPr sz="2100" b="1" dirty="0">
              <a:solidFill>
                <a:srgbClr val="102A4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B1D7DC-662F-45A5-B77C-9003B127FDA5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访客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DC6487-7712-4954-91AF-8342678FC0C1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2428875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公开浏览与帮助问答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D65EB-0037-4080-9D09-35F213E01A32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注册用户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E2C7EE-9978-4E0A-A56B-0FCD61ADFF53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同时承担买家与卖家角色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FC87DE-9571-4C79-872C-65349D2CFDB0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认证用户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00DD36-340E-4304-B844-68AB01A3AB91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276225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通过学生认证后参与完整交易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CDDDC5-0F0F-43FD-AE53-45B077FC231C}"/>
              </a:ext>
            </a:extLst>
          </p:cNvPr>
          <p:cNvSpPr>
            <a:spLocks noGrp="1"/>
          </p:cNvSpPr>
          <p:nvPr/>
        </p:nvSpPr>
        <p:spPr>
          <a:xfrm>
            <a:off x="666750" y="52578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960CE2-3BD4-40E1-963C-03B77308ED4A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审核、治理与审计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38550" y="1774227"/>
            <a:ext cx="7848600" cy="3785795"/>
          </a:xfrm>
          <a:prstGeom prst="roundRect">
            <a:avLst>
              <a:gd name="adj" fmla="val 3830"/>
            </a:avLst>
          </a:prstGeom>
        </p:spPr>
      </p:pic>
    </p:spTree>
    <p:extLst>
      <p:ext uri="{BB962C8B-B14F-4D97-AF65-F5344CB8AC3E}">
        <p14:creationId xmlns:p14="http://schemas.microsoft.com/office/powerpoint/2010/main" val="107877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840A099-7A57-4FB0-BE44-032BD770E8F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功能范围与核心用例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D87AE2-5954-4E27-8516-A7066538931F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C51C50A-6C36-46B1-91EF-147BDB114EC2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7317BB-562A-4F7C-9564-6E429B68322A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前台交易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B8CBE1-59BE-45DA-9051-9020E969B576}"/>
              </a:ext>
            </a:extLst>
          </p:cNvPr>
          <p:cNvSpPr>
            <a:spLocks noGrp="1"/>
          </p:cNvSpPr>
          <p:nvPr/>
        </p:nvSpPr>
        <p:spPr>
          <a:xfrm>
            <a:off x="8248650" y="1924050"/>
            <a:ext cx="2857500" cy="2095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浏览检索</a:t>
            </a:r>
          </a:p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发布与审核</a:t>
            </a:r>
          </a:p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收藏、议价和私信</a:t>
            </a:r>
          </a:p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下单、预约与面交</a:t>
            </a:r>
          </a:p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评价与举报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C631AA-C50F-4049-9707-B7B795E742CE}"/>
              </a:ext>
            </a:extLst>
          </p:cNvPr>
          <p:cNvSpPr>
            <a:spLocks noGrp="1"/>
          </p:cNvSpPr>
          <p:nvPr/>
        </p:nvSpPr>
        <p:spPr>
          <a:xfrm>
            <a:off x="8248650" y="4224338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后台治理</a:t>
            </a:r>
            <a:endParaRPr sz="1650" b="1" dirty="0">
              <a:solidFill>
                <a:srgbClr val="F06C5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951D02-3E4E-4ECC-B8AC-C8CA505226F9}"/>
              </a:ext>
            </a:extLst>
          </p:cNvPr>
          <p:cNvSpPr>
            <a:spLocks noGrp="1"/>
          </p:cNvSpPr>
          <p:nvPr/>
        </p:nvSpPr>
        <p:spPr>
          <a:xfrm>
            <a:off x="8248650" y="4681537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学生认证审核</a:t>
            </a:r>
            <a:endParaRPr sz="1500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商品审核与下架</a:t>
            </a:r>
            <a:endParaRPr sz="1500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举报处理、公告和日志</a:t>
            </a:r>
            <a:endParaRPr sz="1500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27" name="Picture 3" descr="校园二手交易系统总体用例图，展示访客、注册用户、管理员和外部 AI 服务与主要用例的关系">
            <a:extLst>
              <a:ext uri="{FF2B5EF4-FFF2-40B4-BE49-F238E27FC236}">
                <a16:creationId xmlns:a16="http://schemas.microsoft.com/office/drawing/2014/main" id="{D4B2126E-06B1-0E43-B6BD-9B81B938B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66850"/>
            <a:ext cx="6729219" cy="4191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633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935EA58C-FBBB-4618-BA92-C032F75090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系统功能需求与数据表（1/4）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B8CC4F-5165-4121-B2E4-D9BB2AEBF72C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7E3976B-69D7-4738-86DC-8B13E9D4D528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B1A949-8A3A-4BD0-9202-CB3FA25472D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账户、认证与商品发布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1892DD-A062-4FC5-B4C7-2ABAD900712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FDAC3-B173-481A-A2BE-227CD490739D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C59ECF-4D6F-40DA-AD5D-9B3AC2CCB782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2A839-AB9E-4EA6-BD56-72C74AA309DF}"/>
              </a:ext>
            </a:extLst>
          </p:cNvPr>
          <p:cNvSpPr>
            <a:spLocks noGrp="1"/>
          </p:cNvSpPr>
          <p:nvPr/>
        </p:nvSpPr>
        <p:spPr>
          <a:xfrm>
            <a:off x="4514850" y="17145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需求说明（设计与实现文档原文）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A14796-E7C4-406B-A2E6-23E9AECF5CE0}"/>
              </a:ext>
            </a:extLst>
          </p:cNvPr>
          <p:cNvSpPr>
            <a:spLocks noGrp="1"/>
          </p:cNvSpPr>
          <p:nvPr/>
        </p:nvSpPr>
        <p:spPr>
          <a:xfrm>
            <a:off x="9220200" y="17145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涉及数据表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FC3F6-51EE-48A7-8C11-8F5C31874BAC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858500" cy="1905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C24831-4FC7-4497-87BD-18C36CEDE096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316719-9EF9-4CBD-8B5C-1C0DC9650FBB}"/>
              </a:ext>
            </a:extLst>
          </p:cNvPr>
          <p:cNvSpPr>
            <a:spLocks noGrp="1"/>
          </p:cNvSpPr>
          <p:nvPr/>
        </p:nvSpPr>
        <p:spPr>
          <a:xfrm>
            <a:off x="1333500" y="21431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用户注册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35C6F5-B8A1-440B-8C92-63CD039EAE3F}"/>
              </a:ext>
            </a:extLst>
          </p:cNvPr>
          <p:cNvSpPr>
            <a:spLocks noGrp="1"/>
          </p:cNvSpPr>
          <p:nvPr/>
        </p:nvSpPr>
        <p:spPr>
          <a:xfrm>
            <a:off x="3105150" y="21431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访客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F422FA6-F6A8-4866-8EB7-6DFC3B0DEFA8}"/>
              </a:ext>
            </a:extLst>
          </p:cNvPr>
          <p:cNvSpPr>
            <a:spLocks noGrp="1"/>
          </p:cNvSpPr>
          <p:nvPr/>
        </p:nvSpPr>
        <p:spPr>
          <a:xfrm>
            <a:off x="4514850" y="21431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用户填写用户名、密码、学号等信息完成注册；系统校验用户名和学号唯一性并建立账户。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2F5887-63EC-4227-BDDD-87684193B39A}"/>
              </a:ext>
            </a:extLst>
          </p:cNvPr>
          <p:cNvSpPr>
            <a:spLocks noGrp="1"/>
          </p:cNvSpPr>
          <p:nvPr/>
        </p:nvSpPr>
        <p:spPr>
          <a:xfrm>
            <a:off x="9220200" y="21431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app_user · student_auth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FAF0FA-DCE4-4A2F-9688-B2F5F2461CB7}"/>
              </a:ext>
            </a:extLst>
          </p:cNvPr>
          <p:cNvSpPr>
            <a:spLocks noGrp="1"/>
          </p:cNvSpPr>
          <p:nvPr/>
        </p:nvSpPr>
        <p:spPr>
          <a:xfrm>
            <a:off x="628650" y="25622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86A3B3-EF2F-4B68-B99D-A454A6C0569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12A968-5F47-4BF7-A1C2-C1AC23F7A7BB}"/>
              </a:ext>
            </a:extLst>
          </p:cNvPr>
          <p:cNvSpPr>
            <a:spLocks noGrp="1"/>
          </p:cNvSpPr>
          <p:nvPr/>
        </p:nvSpPr>
        <p:spPr>
          <a:xfrm>
            <a:off x="1333500" y="26003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用户登录与身份认证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57BE46-A438-46A2-AE23-73666C5CBC73}"/>
              </a:ext>
            </a:extLst>
          </p:cNvPr>
          <p:cNvSpPr>
            <a:spLocks noGrp="1"/>
          </p:cNvSpPr>
          <p:nvPr/>
        </p:nvSpPr>
        <p:spPr>
          <a:xfrm>
            <a:off x="3105150" y="26003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注册用户、管理员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D55FC5-6612-4CEF-9150-B86B26DF1F71}"/>
              </a:ext>
            </a:extLst>
          </p:cNvPr>
          <p:cNvSpPr>
            <a:spLocks noGrp="1"/>
          </p:cNvSpPr>
          <p:nvPr/>
        </p:nvSpPr>
        <p:spPr>
          <a:xfrm>
            <a:off x="4514850" y="26003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支持用户名或学号登录；校验密码与账号状态，封禁用户拒绝登录，成功后签发访问令牌。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1348770-8A21-4938-BF54-B0FC8624D6FD}"/>
              </a:ext>
            </a:extLst>
          </p:cNvPr>
          <p:cNvSpPr>
            <a:spLocks noGrp="1"/>
          </p:cNvSpPr>
          <p:nvPr/>
        </p:nvSpPr>
        <p:spPr>
          <a:xfrm>
            <a:off x="9220200" y="26003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app_user · student_auth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DDD6AC-3E48-4BD7-89B1-DA4E223A4E35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A34D9-C18F-4793-A2E2-F79E0C71E77A}"/>
              </a:ext>
            </a:extLst>
          </p:cNvPr>
          <p:cNvSpPr>
            <a:spLocks noGrp="1"/>
          </p:cNvSpPr>
          <p:nvPr/>
        </p:nvSpPr>
        <p:spPr>
          <a:xfrm>
            <a:off x="666750" y="30765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2B63A2-4C18-4319-8B82-9FF7633B9153}"/>
              </a:ext>
            </a:extLst>
          </p:cNvPr>
          <p:cNvSpPr>
            <a:spLocks noGrp="1"/>
          </p:cNvSpPr>
          <p:nvPr/>
        </p:nvSpPr>
        <p:spPr>
          <a:xfrm>
            <a:off x="1333500" y="30575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学生实名认证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B2D126-00DB-4920-9C95-FE033EBD25AC}"/>
              </a:ext>
            </a:extLst>
          </p:cNvPr>
          <p:cNvSpPr>
            <a:spLocks noGrp="1"/>
          </p:cNvSpPr>
          <p:nvPr/>
        </p:nvSpPr>
        <p:spPr>
          <a:xfrm>
            <a:off x="3105150" y="30575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注册用户、管理员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CC759C-46A2-4708-9397-B263B6F7CA40}"/>
              </a:ext>
            </a:extLst>
          </p:cNvPr>
          <p:cNvSpPr>
            <a:spLocks noGrp="1"/>
          </p:cNvSpPr>
          <p:nvPr/>
        </p:nvSpPr>
        <p:spPr>
          <a:xfrm>
            <a:off x="4514850" y="30575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存储学号、真实姓名、学院和认证状态，与用户一对一关联；管理员审核通过或拒绝。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F7D60C-09E1-4318-9E28-5BBD301F3F63}"/>
              </a:ext>
            </a:extLst>
          </p:cNvPr>
          <p:cNvSpPr>
            <a:spLocks noGrp="1"/>
          </p:cNvSpPr>
          <p:nvPr/>
        </p:nvSpPr>
        <p:spPr>
          <a:xfrm>
            <a:off x="9220200" y="30575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student_auth · app_user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03FEA7-441B-4A2C-BB5D-B31CDAE217E3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DD90ACA-F1BC-4382-9ACE-5D869DEB3FCA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33CE96B-84AF-4E67-AE80-0747CE84C3D4}"/>
              </a:ext>
            </a:extLst>
          </p:cNvPr>
          <p:cNvSpPr>
            <a:spLocks noGrp="1"/>
          </p:cNvSpPr>
          <p:nvPr/>
        </p:nvSpPr>
        <p:spPr>
          <a:xfrm>
            <a:off x="1333500" y="35147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个人资料及头像维护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C99D7D-C46A-489B-9A0D-D65FB3F288D1}"/>
              </a:ext>
            </a:extLst>
          </p:cNvPr>
          <p:cNvSpPr>
            <a:spLocks noGrp="1"/>
          </p:cNvSpPr>
          <p:nvPr/>
        </p:nvSpPr>
        <p:spPr>
          <a:xfrm>
            <a:off x="3105150" y="35147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注册用户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7C99529-C66A-4A07-AF2E-5253797E51C2}"/>
              </a:ext>
            </a:extLst>
          </p:cNvPr>
          <p:cNvSpPr>
            <a:spLocks noGrp="1"/>
          </p:cNvSpPr>
          <p:nvPr/>
        </p:nvSpPr>
        <p:spPr>
          <a:xfrm>
            <a:off x="4514850" y="35147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修改昵称、手机、邮箱和头像等个人资料。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4B9551D-53A1-4684-A026-00F385EDCD82}"/>
              </a:ext>
            </a:extLst>
          </p:cNvPr>
          <p:cNvSpPr>
            <a:spLocks noGrp="1"/>
          </p:cNvSpPr>
          <p:nvPr/>
        </p:nvSpPr>
        <p:spPr>
          <a:xfrm>
            <a:off x="9220200" y="35147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app_user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3711394-ACFC-4636-84F8-DE6700B67305}"/>
              </a:ext>
            </a:extLst>
          </p:cNvPr>
          <p:cNvSpPr>
            <a:spLocks noGrp="1"/>
          </p:cNvSpPr>
          <p:nvPr/>
        </p:nvSpPr>
        <p:spPr>
          <a:xfrm>
            <a:off x="628650" y="39338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D59931-A44E-4C86-BC51-8BA605FAB9D4}"/>
              </a:ext>
            </a:extLst>
          </p:cNvPr>
          <p:cNvSpPr>
            <a:spLocks noGrp="1"/>
          </p:cNvSpPr>
          <p:nvPr/>
        </p:nvSpPr>
        <p:spPr>
          <a:xfrm>
            <a:off x="666750" y="39909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BF624DB-FC1B-4A4B-ABD6-4E17C21383E3}"/>
              </a:ext>
            </a:extLst>
          </p:cNvPr>
          <p:cNvSpPr>
            <a:spLocks noGrp="1"/>
          </p:cNvSpPr>
          <p:nvPr/>
        </p:nvSpPr>
        <p:spPr>
          <a:xfrm>
            <a:off x="1333500" y="39719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发布商品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FF4BEF-AADB-42E1-8988-76BE30A66D30}"/>
              </a:ext>
            </a:extLst>
          </p:cNvPr>
          <p:cNvSpPr>
            <a:spLocks noGrp="1"/>
          </p:cNvSpPr>
          <p:nvPr/>
        </p:nvSpPr>
        <p:spPr>
          <a:xfrm>
            <a:off x="3105150" y="39719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卖家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42E58C-41C6-4299-AF17-2947475575F2}"/>
              </a:ext>
            </a:extLst>
          </p:cNvPr>
          <p:cNvSpPr>
            <a:spLocks noGrp="1"/>
          </p:cNvSpPr>
          <p:nvPr/>
        </p:nvSpPr>
        <p:spPr>
          <a:xfrm>
            <a:off x="4514850" y="39719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填写标题、描述、分类、价格、成色并上传图片；发布后进入待审核状态。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94D22AC-5EDB-4220-9468-31B2C8309BC1}"/>
              </a:ext>
            </a:extLst>
          </p:cNvPr>
          <p:cNvSpPr>
            <a:spLocks noGrp="1"/>
          </p:cNvSpPr>
          <p:nvPr/>
        </p:nvSpPr>
        <p:spPr>
          <a:xfrm>
            <a:off x="9220200" y="39719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category · goods_image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E21A17B-9002-4362-872B-6DF0227B5C3F}"/>
              </a:ext>
            </a:extLst>
          </p:cNvPr>
          <p:cNvSpPr>
            <a:spLocks noGrp="1"/>
          </p:cNvSpPr>
          <p:nvPr/>
        </p:nvSpPr>
        <p:spPr>
          <a:xfrm>
            <a:off x="628650" y="43910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B04DCD6-72EB-4A25-A136-FFD429549273}"/>
              </a:ext>
            </a:extLst>
          </p:cNvPr>
          <p:cNvSpPr>
            <a:spLocks noGrp="1"/>
          </p:cNvSpPr>
          <p:nvPr/>
        </p:nvSpPr>
        <p:spPr>
          <a:xfrm>
            <a:off x="666750" y="44481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1FD5A5-4F3E-43C6-8B30-13DAD327E877}"/>
              </a:ext>
            </a:extLst>
          </p:cNvPr>
          <p:cNvSpPr>
            <a:spLocks noGrp="1"/>
          </p:cNvSpPr>
          <p:nvPr/>
        </p:nvSpPr>
        <p:spPr>
          <a:xfrm>
            <a:off x="1333500" y="44291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编辑商品和重新上架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EE13194-7928-4EC5-9B77-44DBDFB66EBE}"/>
              </a:ext>
            </a:extLst>
          </p:cNvPr>
          <p:cNvSpPr>
            <a:spLocks noGrp="1"/>
          </p:cNvSpPr>
          <p:nvPr/>
        </p:nvSpPr>
        <p:spPr>
          <a:xfrm>
            <a:off x="3105150" y="44291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卖家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9846ACC-54D2-4DE1-B859-03EFC32EFBF3}"/>
              </a:ext>
            </a:extLst>
          </p:cNvPr>
          <p:cNvSpPr>
            <a:spLocks noGrp="1"/>
          </p:cNvSpPr>
          <p:nvPr/>
        </p:nvSpPr>
        <p:spPr>
          <a:xfrm>
            <a:off x="4514850" y="44291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修改本人商品信息；已审核商品编辑或重新上架后再次提交审核。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5BB790D-6AF5-44F1-A551-CEF846671D17}"/>
              </a:ext>
            </a:extLst>
          </p:cNvPr>
          <p:cNvSpPr>
            <a:spLocks noGrp="1"/>
          </p:cNvSpPr>
          <p:nvPr/>
        </p:nvSpPr>
        <p:spPr>
          <a:xfrm>
            <a:off x="9220200" y="44291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category · goods_image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DBFC525-14EE-47BA-AE7B-F97FA58064BE}"/>
              </a:ext>
            </a:extLst>
          </p:cNvPr>
          <p:cNvSpPr>
            <a:spLocks noGrp="1"/>
          </p:cNvSpPr>
          <p:nvPr/>
        </p:nvSpPr>
        <p:spPr>
          <a:xfrm>
            <a:off x="628650" y="48482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9EC2C3B-A73C-4C3A-8159-DA41D536C10B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FR-07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7B44644-4596-4D2F-8D48-C35E59D9653A}"/>
              </a:ext>
            </a:extLst>
          </p:cNvPr>
          <p:cNvSpPr>
            <a:spLocks noGrp="1"/>
          </p:cNvSpPr>
          <p:nvPr/>
        </p:nvSpPr>
        <p:spPr>
          <a:xfrm>
            <a:off x="1333500" y="48863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商品图片维护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F32BCDD-C078-4AD8-A8EF-A01865F025E9}"/>
              </a:ext>
            </a:extLst>
          </p:cNvPr>
          <p:cNvSpPr>
            <a:spLocks noGrp="1"/>
          </p:cNvSpPr>
          <p:nvPr/>
        </p:nvSpPr>
        <p:spPr>
          <a:xfrm>
            <a:off x="3105150" y="48863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卖家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7C7D9DF-9D84-41CA-AD3D-C1FA66153685}"/>
              </a:ext>
            </a:extLst>
          </p:cNvPr>
          <p:cNvSpPr>
            <a:spLocks noGrp="1"/>
          </p:cNvSpPr>
          <p:nvPr/>
        </p:nvSpPr>
        <p:spPr>
          <a:xfrm>
            <a:off x="4514850" y="48863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支持图片上传、商品绑定、多图排序和删除；删除商品时同步处理关联图片。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D39EE2F-62E7-4772-9F90-62729092953C}"/>
              </a:ext>
            </a:extLst>
          </p:cNvPr>
          <p:cNvSpPr>
            <a:spLocks noGrp="1"/>
          </p:cNvSpPr>
          <p:nvPr/>
        </p:nvSpPr>
        <p:spPr>
          <a:xfrm>
            <a:off x="9220200" y="48863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goods_image · goods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7B5C3E6-CD6F-4996-BC08-93EB5D821A2E}"/>
              </a:ext>
            </a:extLst>
          </p:cNvPr>
          <p:cNvSpPr>
            <a:spLocks noGrp="1"/>
          </p:cNvSpPr>
          <p:nvPr/>
        </p:nvSpPr>
        <p:spPr>
          <a:xfrm>
            <a:off x="628650" y="53054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77E0088-F7BA-4726-BE07-A192C198C5B5}"/>
              </a:ext>
            </a:extLst>
          </p:cNvPr>
          <p:cNvSpPr>
            <a:spLocks noGrp="1"/>
          </p:cNvSpPr>
          <p:nvPr/>
        </p:nvSpPr>
        <p:spPr>
          <a:xfrm>
            <a:off x="666750" y="53625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2345FF-DA8B-496A-9582-7EF0088F44D4}"/>
              </a:ext>
            </a:extLst>
          </p:cNvPr>
          <p:cNvSpPr>
            <a:spLocks noGrp="1"/>
          </p:cNvSpPr>
          <p:nvPr/>
        </p:nvSpPr>
        <p:spPr>
          <a:xfrm>
            <a:off x="1333500" y="53435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商品下架或删除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87FE27B-4035-4B27-A922-BC9415C8C159}"/>
              </a:ext>
            </a:extLst>
          </p:cNvPr>
          <p:cNvSpPr>
            <a:spLocks noGrp="1"/>
          </p:cNvSpPr>
          <p:nvPr/>
        </p:nvSpPr>
        <p:spPr>
          <a:xfrm>
            <a:off x="3105150" y="53435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卖家、管理员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B8A5DDF-C4B0-489E-A537-0C904B353013}"/>
              </a:ext>
            </a:extLst>
          </p:cNvPr>
          <p:cNvSpPr>
            <a:spLocks noGrp="1"/>
          </p:cNvSpPr>
          <p:nvPr/>
        </p:nvSpPr>
        <p:spPr>
          <a:xfrm>
            <a:off x="4514850" y="53435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按权限下架或删除商品；下架后停止公开展示，管理员操作记录审计日志。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B125F67-33D5-4312-8927-890DF997105C}"/>
              </a:ext>
            </a:extLst>
          </p:cNvPr>
          <p:cNvSpPr>
            <a:spLocks noGrp="1"/>
          </p:cNvSpPr>
          <p:nvPr/>
        </p:nvSpPr>
        <p:spPr>
          <a:xfrm>
            <a:off x="9220200" y="53435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goods_image · audit_log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FCDDC27-255B-43E5-9EAE-5166BFDAC483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1BB8C63-8570-4EA2-BCB6-37028E5E9F7D}"/>
              </a:ext>
            </a:extLst>
          </p:cNvPr>
          <p:cNvSpPr>
            <a:spLocks noGrp="1"/>
          </p:cNvSpPr>
          <p:nvPr/>
        </p:nvSpPr>
        <p:spPr>
          <a:xfrm>
            <a:off x="666750" y="5819775"/>
            <a:ext cx="571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FR-09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6ADE313-B582-4DD4-BA6F-1C0FC162CC35}"/>
              </a:ext>
            </a:extLst>
          </p:cNvPr>
          <p:cNvSpPr>
            <a:spLocks noGrp="1"/>
          </p:cNvSpPr>
          <p:nvPr/>
        </p:nvSpPr>
        <p:spPr>
          <a:xfrm>
            <a:off x="1333500" y="5800725"/>
            <a:ext cx="16764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管理员审核商品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4387010-B868-494D-A805-6AC905AE5962}"/>
              </a:ext>
            </a:extLst>
          </p:cNvPr>
          <p:cNvSpPr>
            <a:spLocks noGrp="1"/>
          </p:cNvSpPr>
          <p:nvPr/>
        </p:nvSpPr>
        <p:spPr>
          <a:xfrm>
            <a:off x="3105150" y="5800725"/>
            <a:ext cx="1314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C7CAE6D-3EC6-48EF-A390-F99082E33A9D}"/>
              </a:ext>
            </a:extLst>
          </p:cNvPr>
          <p:cNvSpPr>
            <a:spLocks noGrp="1"/>
          </p:cNvSpPr>
          <p:nvPr/>
        </p:nvSpPr>
        <p:spPr>
          <a:xfrm>
            <a:off x="4514850" y="5800725"/>
            <a:ext cx="46101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查看待审商品，执行通过或拒绝并记录审核结果和原因。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893AF0A-4DF6-4DB3-84AE-2AE09C58F554}"/>
              </a:ext>
            </a:extLst>
          </p:cNvPr>
          <p:cNvSpPr>
            <a:spLocks noGrp="1"/>
          </p:cNvSpPr>
          <p:nvPr/>
        </p:nvSpPr>
        <p:spPr>
          <a:xfrm>
            <a:off x="9220200" y="5800725"/>
            <a:ext cx="22479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audit_log</a:t>
            </a:r>
          </a:p>
        </p:txBody>
      </p:sp>
    </p:spTree>
    <p:extLst>
      <p:ext uri="{BB962C8B-B14F-4D97-AF65-F5344CB8AC3E}">
        <p14:creationId xmlns:p14="http://schemas.microsoft.com/office/powerpoint/2010/main" val="1752550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35D581D6-9E1B-4BA5-9BD7-BD30C2A5CFE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系统功能需求与数据表（2/4）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89C791-3E1A-458D-A5A5-DDF00F0E45C1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1C8CAF0-9783-40ED-B2F8-36C3344DC20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A35638-1563-43D0-87F7-47746B294FE5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商品查询、收藏、议价与私信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2905F2-49CF-4A31-BA38-5FE0A17AAD31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0CCCE5-419B-4761-9A8A-8E63834EEF0A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9E3635-013C-4B16-8A93-1EF61907770E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EF531F-4E70-4B54-9942-C5492C138EF9}"/>
              </a:ext>
            </a:extLst>
          </p:cNvPr>
          <p:cNvSpPr>
            <a:spLocks noGrp="1"/>
          </p:cNvSpPr>
          <p:nvPr/>
        </p:nvSpPr>
        <p:spPr>
          <a:xfrm>
            <a:off x="4514850" y="17145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需求说明（设计与实现文档原文）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612319-1A82-49CB-A0F6-54066F8D8CED}"/>
              </a:ext>
            </a:extLst>
          </p:cNvPr>
          <p:cNvSpPr>
            <a:spLocks noGrp="1"/>
          </p:cNvSpPr>
          <p:nvPr/>
        </p:nvSpPr>
        <p:spPr>
          <a:xfrm>
            <a:off x="9220200" y="17145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涉及数据表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8F7D80-5889-4E16-9EF5-5C0BFBBEBF62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858500" cy="1905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C6065A-2991-4360-982F-E4961A06E21A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8E5E9A-4EDB-4358-BB7F-04D01CCBED34}"/>
              </a:ext>
            </a:extLst>
          </p:cNvPr>
          <p:cNvSpPr>
            <a:spLocks noGrp="1"/>
          </p:cNvSpPr>
          <p:nvPr/>
        </p:nvSpPr>
        <p:spPr>
          <a:xfrm>
            <a:off x="1333500" y="21431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分类和关键词搜索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E0F38A-EA4D-46D9-AFA0-9ECA134915C1}"/>
              </a:ext>
            </a:extLst>
          </p:cNvPr>
          <p:cNvSpPr>
            <a:spLocks noGrp="1"/>
          </p:cNvSpPr>
          <p:nvPr/>
        </p:nvSpPr>
        <p:spPr>
          <a:xfrm>
            <a:off x="3105150" y="21431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访客、注册用户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4F46DE-E31E-435F-BC6F-268BE411959C}"/>
              </a:ext>
            </a:extLst>
          </p:cNvPr>
          <p:cNvSpPr>
            <a:spLocks noGrp="1"/>
          </p:cNvSpPr>
          <p:nvPr/>
        </p:nvSpPr>
        <p:spPr>
          <a:xfrm>
            <a:off x="4514850" y="21431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按分类、标题、描述等条件检索已审核商品。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2159D8-1E05-45C6-A719-2549DDB99CC1}"/>
              </a:ext>
            </a:extLst>
          </p:cNvPr>
          <p:cNvSpPr>
            <a:spLocks noGrp="1"/>
          </p:cNvSpPr>
          <p:nvPr/>
        </p:nvSpPr>
        <p:spPr>
          <a:xfrm>
            <a:off x="9220200" y="21431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category · app_user · goods_image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4DCD4D-4FE3-46A6-9E2B-DBFAAEC88799}"/>
              </a:ext>
            </a:extLst>
          </p:cNvPr>
          <p:cNvSpPr>
            <a:spLocks noGrp="1"/>
          </p:cNvSpPr>
          <p:nvPr/>
        </p:nvSpPr>
        <p:spPr>
          <a:xfrm>
            <a:off x="628650" y="26193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816023-316E-424F-9AF4-890A89C69D5E}"/>
              </a:ext>
            </a:extLst>
          </p:cNvPr>
          <p:cNvSpPr>
            <a:spLocks noGrp="1"/>
          </p:cNvSpPr>
          <p:nvPr/>
        </p:nvSpPr>
        <p:spPr>
          <a:xfrm>
            <a:off x="666750" y="26765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D4E38B-D891-47FF-AE5E-ABF94621DE7D}"/>
              </a:ext>
            </a:extLst>
          </p:cNvPr>
          <p:cNvSpPr>
            <a:spLocks noGrp="1"/>
          </p:cNvSpPr>
          <p:nvPr/>
        </p:nvSpPr>
        <p:spPr>
          <a:xfrm>
            <a:off x="1333500" y="26574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组合筛选与排序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54DF42-4236-4DCD-A91C-3A49FAD06419}"/>
              </a:ext>
            </a:extLst>
          </p:cNvPr>
          <p:cNvSpPr>
            <a:spLocks noGrp="1"/>
          </p:cNvSpPr>
          <p:nvPr/>
        </p:nvSpPr>
        <p:spPr>
          <a:xfrm>
            <a:off x="3105150" y="26574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访客、注册用户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11D7F7-B3CE-45D1-8F13-C8F59241A279}"/>
              </a:ext>
            </a:extLst>
          </p:cNvPr>
          <p:cNvSpPr>
            <a:spLocks noGrp="1"/>
          </p:cNvSpPr>
          <p:nvPr/>
        </p:nvSpPr>
        <p:spPr>
          <a:xfrm>
            <a:off x="4514850" y="26574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按价格区间、发布时间、成色、热度等条件组合筛选和排序。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FDC3D5-BE82-47B1-80A4-6741345C391E}"/>
              </a:ext>
            </a:extLst>
          </p:cNvPr>
          <p:cNvSpPr>
            <a:spLocks noGrp="1"/>
          </p:cNvSpPr>
          <p:nvPr/>
        </p:nvSpPr>
        <p:spPr>
          <a:xfrm>
            <a:off x="9220200" y="26574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category · goods_image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61C2F1-79F4-49A7-B026-FFD344C828C2}"/>
              </a:ext>
            </a:extLst>
          </p:cNvPr>
          <p:cNvSpPr>
            <a:spLocks noGrp="1"/>
          </p:cNvSpPr>
          <p:nvPr/>
        </p:nvSpPr>
        <p:spPr>
          <a:xfrm>
            <a:off x="628650" y="31337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3AD008-5B53-42AB-BA56-F51D24D150B0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128DDF7-CEDA-4758-A7B3-D861AF52FC6B}"/>
              </a:ext>
            </a:extLst>
          </p:cNvPr>
          <p:cNvSpPr>
            <a:spLocks noGrp="1"/>
          </p:cNvSpPr>
          <p:nvPr/>
        </p:nvSpPr>
        <p:spPr>
          <a:xfrm>
            <a:off x="1333500" y="31718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商品详情展示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A366CF-8FDD-45C5-A2DB-1BC76C48AAF0}"/>
              </a:ext>
            </a:extLst>
          </p:cNvPr>
          <p:cNvSpPr>
            <a:spLocks noGrp="1"/>
          </p:cNvSpPr>
          <p:nvPr/>
        </p:nvSpPr>
        <p:spPr>
          <a:xfrm>
            <a:off x="3105150" y="31718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访客、注册用户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E87282-193F-4FED-99AA-BEA9A38ED056}"/>
              </a:ext>
            </a:extLst>
          </p:cNvPr>
          <p:cNvSpPr>
            <a:spLocks noGrp="1"/>
          </p:cNvSpPr>
          <p:nvPr/>
        </p:nvSpPr>
        <p:spPr>
          <a:xfrm>
            <a:off x="4514850" y="31718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展示商品信息、图片、卖家信用、认证状态、收藏数和浏览量。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5BF8FC-3976-4BF6-A814-A69FA4E00DFE}"/>
              </a:ext>
            </a:extLst>
          </p:cNvPr>
          <p:cNvSpPr>
            <a:spLocks noGrp="1"/>
          </p:cNvSpPr>
          <p:nvPr/>
        </p:nvSpPr>
        <p:spPr>
          <a:xfrm>
            <a:off x="9220200" y="31718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goods_image · app_user · student_auth · favorite · category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3D6508-F8E6-49E8-B5E7-7B437825AF19}"/>
              </a:ext>
            </a:extLst>
          </p:cNvPr>
          <p:cNvSpPr>
            <a:spLocks noGrp="1"/>
          </p:cNvSpPr>
          <p:nvPr/>
        </p:nvSpPr>
        <p:spPr>
          <a:xfrm>
            <a:off x="628650" y="36480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015D28-77BB-4C7A-AA46-68638E857F15}"/>
              </a:ext>
            </a:extLst>
          </p:cNvPr>
          <p:cNvSpPr>
            <a:spLocks noGrp="1"/>
          </p:cNvSpPr>
          <p:nvPr/>
        </p:nvSpPr>
        <p:spPr>
          <a:xfrm>
            <a:off x="666750" y="37052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9E0E71A-8C81-42EC-9014-0543D6F8173C}"/>
              </a:ext>
            </a:extLst>
          </p:cNvPr>
          <p:cNvSpPr>
            <a:spLocks noGrp="1"/>
          </p:cNvSpPr>
          <p:nvPr/>
        </p:nvSpPr>
        <p:spPr>
          <a:xfrm>
            <a:off x="1333500" y="36861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浏览量与热度统计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8DFFA2A-5190-4E98-8315-83915DFDC6DA}"/>
              </a:ext>
            </a:extLst>
          </p:cNvPr>
          <p:cNvSpPr>
            <a:spLocks noGrp="1"/>
          </p:cNvSpPr>
          <p:nvPr/>
        </p:nvSpPr>
        <p:spPr>
          <a:xfrm>
            <a:off x="3105150" y="36861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系统、管理员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4E927A-0DF3-4EF4-A836-64752C8B92E3}"/>
              </a:ext>
            </a:extLst>
          </p:cNvPr>
          <p:cNvSpPr>
            <a:spLocks noGrp="1"/>
          </p:cNvSpPr>
          <p:nvPr/>
        </p:nvSpPr>
        <p:spPr>
          <a:xfrm>
            <a:off x="4514850" y="36861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访问商品详情时原子增加浏览量，并为热门商品和后台统计提供数据。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5A4CD7-F7AC-425C-BDA5-DD354D7C2532}"/>
              </a:ext>
            </a:extLst>
          </p:cNvPr>
          <p:cNvSpPr>
            <a:spLocks noGrp="1"/>
          </p:cNvSpPr>
          <p:nvPr/>
        </p:nvSpPr>
        <p:spPr>
          <a:xfrm>
            <a:off x="9220200" y="36861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5A72D50-64AE-416D-B203-D69EA81C1895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4FA80F-3E16-4543-9685-04944E23D032}"/>
              </a:ext>
            </a:extLst>
          </p:cNvPr>
          <p:cNvSpPr>
            <a:spLocks noGrp="1"/>
          </p:cNvSpPr>
          <p:nvPr/>
        </p:nvSpPr>
        <p:spPr>
          <a:xfrm>
            <a:off x="666750" y="42195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FR-14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AFEF27-B0F8-4C2F-912F-AF305796F03F}"/>
              </a:ext>
            </a:extLst>
          </p:cNvPr>
          <p:cNvSpPr>
            <a:spLocks noGrp="1"/>
          </p:cNvSpPr>
          <p:nvPr/>
        </p:nvSpPr>
        <p:spPr>
          <a:xfrm>
            <a:off x="1333500" y="42005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收藏商品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D925B5-5262-44EF-A70F-C5D2208D0F33}"/>
              </a:ext>
            </a:extLst>
          </p:cNvPr>
          <p:cNvSpPr>
            <a:spLocks noGrp="1"/>
          </p:cNvSpPr>
          <p:nvPr/>
        </p:nvSpPr>
        <p:spPr>
          <a:xfrm>
            <a:off x="3105150" y="42005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注册用户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7EDE69A-D4B8-4217-98A1-379F78027768}"/>
              </a:ext>
            </a:extLst>
          </p:cNvPr>
          <p:cNvSpPr>
            <a:spLocks noGrp="1"/>
          </p:cNvSpPr>
          <p:nvPr/>
        </p:nvSpPr>
        <p:spPr>
          <a:xfrm>
            <a:off x="4514850" y="42005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添加、取消和查询收藏；同一用户不得重复收藏同一商品。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F98790D-389F-4618-98F0-9146A67758B3}"/>
              </a:ext>
            </a:extLst>
          </p:cNvPr>
          <p:cNvSpPr>
            <a:spLocks noGrp="1"/>
          </p:cNvSpPr>
          <p:nvPr/>
        </p:nvSpPr>
        <p:spPr>
          <a:xfrm>
            <a:off x="9220200" y="42005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favorite · goods · app_user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A762D00-C558-4101-9153-C23FDE1CADA1}"/>
              </a:ext>
            </a:extLst>
          </p:cNvPr>
          <p:cNvSpPr>
            <a:spLocks noGrp="1"/>
          </p:cNvSpPr>
          <p:nvPr/>
        </p:nvSpPr>
        <p:spPr>
          <a:xfrm>
            <a:off x="628650" y="46767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9FEE2C9-553F-4CEF-BAF4-CADFE9CADBC5}"/>
              </a:ext>
            </a:extLst>
          </p:cNvPr>
          <p:cNvSpPr>
            <a:spLocks noGrp="1"/>
          </p:cNvSpPr>
          <p:nvPr/>
        </p:nvSpPr>
        <p:spPr>
          <a:xfrm>
            <a:off x="666750" y="47339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FR-15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CD831CA-35B7-46E0-8A58-0CC224B41078}"/>
              </a:ext>
            </a:extLst>
          </p:cNvPr>
          <p:cNvSpPr>
            <a:spLocks noGrp="1"/>
          </p:cNvSpPr>
          <p:nvPr/>
        </p:nvSpPr>
        <p:spPr>
          <a:xfrm>
            <a:off x="1333500" y="47148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买家出价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E4C3795-E1BE-4936-9F3E-8A93F4D4D9D6}"/>
              </a:ext>
            </a:extLst>
          </p:cNvPr>
          <p:cNvSpPr>
            <a:spLocks noGrp="1"/>
          </p:cNvSpPr>
          <p:nvPr/>
        </p:nvSpPr>
        <p:spPr>
          <a:xfrm>
            <a:off x="3105150" y="47148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1024422-09D4-4EDD-BF85-EE6C19568D25}"/>
              </a:ext>
            </a:extLst>
          </p:cNvPr>
          <p:cNvSpPr>
            <a:spLocks noGrp="1"/>
          </p:cNvSpPr>
          <p:nvPr/>
        </p:nvSpPr>
        <p:spPr>
          <a:xfrm>
            <a:off x="4514850" y="47148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对在售商品发起不高于原价的报价并查看议价状态。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7F997E3-1A23-41AE-BB81-1D9052280CCD}"/>
              </a:ext>
            </a:extLst>
          </p:cNvPr>
          <p:cNvSpPr>
            <a:spLocks noGrp="1"/>
          </p:cNvSpPr>
          <p:nvPr/>
        </p:nvSpPr>
        <p:spPr>
          <a:xfrm>
            <a:off x="9220200" y="47148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bargain_offer · goods · app_user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55F473D-7BAB-4B4E-A974-AD2A274918E2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0EF7869-1732-4E41-A26D-67EFDF093EFB}"/>
              </a:ext>
            </a:extLst>
          </p:cNvPr>
          <p:cNvSpPr>
            <a:spLocks noGrp="1"/>
          </p:cNvSpPr>
          <p:nvPr/>
        </p:nvSpPr>
        <p:spPr>
          <a:xfrm>
            <a:off x="666750" y="52482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FR-16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B03D88E-6A0F-4196-B51E-4D35C8C88C56}"/>
              </a:ext>
            </a:extLst>
          </p:cNvPr>
          <p:cNvSpPr>
            <a:spLocks noGrp="1"/>
          </p:cNvSpPr>
          <p:nvPr/>
        </p:nvSpPr>
        <p:spPr>
          <a:xfrm>
            <a:off x="1333500" y="52292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卖家接受、拒绝或还价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07AF0C9-25D7-425C-A572-A3447B46F1EE}"/>
              </a:ext>
            </a:extLst>
          </p:cNvPr>
          <p:cNvSpPr>
            <a:spLocks noGrp="1"/>
          </p:cNvSpPr>
          <p:nvPr/>
        </p:nvSpPr>
        <p:spPr>
          <a:xfrm>
            <a:off x="3105150" y="52292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卖家、买家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9B89F63-D12E-4C6E-8343-AF7F5E26B218}"/>
              </a:ext>
            </a:extLst>
          </p:cNvPr>
          <p:cNvSpPr>
            <a:spLocks noGrp="1"/>
          </p:cNvSpPr>
          <p:nvPr/>
        </p:nvSpPr>
        <p:spPr>
          <a:xfrm>
            <a:off x="4514850" y="52292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卖家接受、拒绝或提出还价；买家可接受、拒绝或继续报价。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F985308-2786-430A-A51E-1AD62BE86C98}"/>
              </a:ext>
            </a:extLst>
          </p:cNvPr>
          <p:cNvSpPr>
            <a:spLocks noGrp="1"/>
          </p:cNvSpPr>
          <p:nvPr/>
        </p:nvSpPr>
        <p:spPr>
          <a:xfrm>
            <a:off x="9220200" y="52292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bargain_offer · goods · app_user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4027C3B-D7DC-4FD0-97E3-896DF4612157}"/>
              </a:ext>
            </a:extLst>
          </p:cNvPr>
          <p:cNvSpPr>
            <a:spLocks noGrp="1"/>
          </p:cNvSpPr>
          <p:nvPr/>
        </p:nvSpPr>
        <p:spPr>
          <a:xfrm>
            <a:off x="628650" y="57054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6183416-2E65-48BE-B12D-F5A0B5753057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FR-17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4F55D4C-EA59-4D87-ABBC-7FC514355226}"/>
              </a:ext>
            </a:extLst>
          </p:cNvPr>
          <p:cNvSpPr>
            <a:spLocks noGrp="1"/>
          </p:cNvSpPr>
          <p:nvPr/>
        </p:nvSpPr>
        <p:spPr>
          <a:xfrm>
            <a:off x="1333500" y="57435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商品私信沟通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8F1CC48-1CB0-4779-8D6D-F59CB6A82E66}"/>
              </a:ext>
            </a:extLst>
          </p:cNvPr>
          <p:cNvSpPr>
            <a:spLocks noGrp="1"/>
          </p:cNvSpPr>
          <p:nvPr/>
        </p:nvSpPr>
        <p:spPr>
          <a:xfrm>
            <a:off x="3105150" y="57435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EAA8CAC-297F-4AFA-B90B-79F9D9B3CEBF}"/>
              </a:ext>
            </a:extLst>
          </p:cNvPr>
          <p:cNvSpPr>
            <a:spLocks noGrp="1"/>
          </p:cNvSpPr>
          <p:nvPr/>
        </p:nvSpPr>
        <p:spPr>
          <a:xfrm>
            <a:off x="4514850" y="57435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围绕商品建立唯一会话，发送消息、标记已读并统计未读消息。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EA4B1A1-0105-4E7D-91B0-3D54461D967B}"/>
              </a:ext>
            </a:extLst>
          </p:cNvPr>
          <p:cNvSpPr>
            <a:spLocks noGrp="1"/>
          </p:cNvSpPr>
          <p:nvPr/>
        </p:nvSpPr>
        <p:spPr>
          <a:xfrm>
            <a:off x="9220200" y="57435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chat_session · chat_message · goods · app_user</a:t>
            </a:r>
          </a:p>
        </p:txBody>
      </p:sp>
    </p:spTree>
    <p:extLst>
      <p:ext uri="{BB962C8B-B14F-4D97-AF65-F5344CB8AC3E}">
        <p14:creationId xmlns:p14="http://schemas.microsoft.com/office/powerpoint/2010/main" val="175997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9CF6B101-52FB-4E70-8259-7ED08F672494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系统功能需求与数据表（3/4）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BD3C11-E4E0-4BBD-8C35-6294BB1E77FA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FD99E05-094A-4452-91D7-EABCD9573520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3A4973-7415-4731-A383-5C9A545BBB07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订单、并发控制、面交与评价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4EDD0D-4328-44C6-B997-427E8F658443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2C4D63-8F2F-4035-85C0-60BA0751F6EA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CB53CB-5E20-40B2-9021-A09ED92A6F41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0A9B84-FE4C-4418-9533-FE6FE6C7C614}"/>
              </a:ext>
            </a:extLst>
          </p:cNvPr>
          <p:cNvSpPr>
            <a:spLocks noGrp="1"/>
          </p:cNvSpPr>
          <p:nvPr/>
        </p:nvSpPr>
        <p:spPr>
          <a:xfrm>
            <a:off x="4514850" y="17145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需求说明（设计与实现文档原文）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A6CD81-213B-4589-8E20-144DEC22BA8B}"/>
              </a:ext>
            </a:extLst>
          </p:cNvPr>
          <p:cNvSpPr>
            <a:spLocks noGrp="1"/>
          </p:cNvSpPr>
          <p:nvPr/>
        </p:nvSpPr>
        <p:spPr>
          <a:xfrm>
            <a:off x="9220200" y="17145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涉及数据表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4B7078-1D2B-415F-891E-3D3F87ED73C4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858500" cy="1905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AAB168-B737-4611-BB79-9D6E58489036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777AA-345E-4886-86F6-788B6E9E4B35}"/>
              </a:ext>
            </a:extLst>
          </p:cNvPr>
          <p:cNvSpPr>
            <a:spLocks noGrp="1"/>
          </p:cNvSpPr>
          <p:nvPr/>
        </p:nvSpPr>
        <p:spPr>
          <a:xfrm>
            <a:off x="1333500" y="21431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生成交易订单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1A2B9E-158D-4DC7-96B0-CEA82C47B1EA}"/>
              </a:ext>
            </a:extLst>
          </p:cNvPr>
          <p:cNvSpPr>
            <a:spLocks noGrp="1"/>
          </p:cNvSpPr>
          <p:nvPr/>
        </p:nvSpPr>
        <p:spPr>
          <a:xfrm>
            <a:off x="3105150" y="21431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213AED-23EF-4FC3-9D1B-C7D7F2011153}"/>
              </a:ext>
            </a:extLst>
          </p:cNvPr>
          <p:cNvSpPr>
            <a:spLocks noGrp="1"/>
          </p:cNvSpPr>
          <p:nvPr/>
        </p:nvSpPr>
        <p:spPr>
          <a:xfrm>
            <a:off x="4514850" y="21431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写入商品、买家、卖家、最终成交价和订单状态等信息。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CB4D0E8-80AA-4EB4-94BD-71391FD00E9E}"/>
              </a:ext>
            </a:extLst>
          </p:cNvPr>
          <p:cNvSpPr>
            <a:spLocks noGrp="1"/>
          </p:cNvSpPr>
          <p:nvPr/>
        </p:nvSpPr>
        <p:spPr>
          <a:xfrm>
            <a:off x="9220200" y="21431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trade_order · goods · app_user · bargain_offer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734066-CB70-4D2F-A49A-0D61AA91660C}"/>
              </a:ext>
            </a:extLst>
          </p:cNvPr>
          <p:cNvSpPr>
            <a:spLocks noGrp="1"/>
          </p:cNvSpPr>
          <p:nvPr/>
        </p:nvSpPr>
        <p:spPr>
          <a:xfrm>
            <a:off x="628650" y="26193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85D30C-FBBF-4C01-8C71-E3402762F4F8}"/>
              </a:ext>
            </a:extLst>
          </p:cNvPr>
          <p:cNvSpPr>
            <a:spLocks noGrp="1"/>
          </p:cNvSpPr>
          <p:nvPr/>
        </p:nvSpPr>
        <p:spPr>
          <a:xfrm>
            <a:off x="666750" y="26765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FR-19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3BF6FF-38E5-45C4-AF8B-03CB33290F64}"/>
              </a:ext>
            </a:extLst>
          </p:cNvPr>
          <p:cNvSpPr>
            <a:spLocks noGrp="1"/>
          </p:cNvSpPr>
          <p:nvPr/>
        </p:nvSpPr>
        <p:spPr>
          <a:xfrm>
            <a:off x="1333500" y="26574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防止重复成交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2C469E-F69D-467C-A584-3B82654F1196}"/>
              </a:ext>
            </a:extLst>
          </p:cNvPr>
          <p:cNvSpPr>
            <a:spLocks noGrp="1"/>
          </p:cNvSpPr>
          <p:nvPr/>
        </p:nvSpPr>
        <p:spPr>
          <a:xfrm>
            <a:off x="3105150" y="26574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B799C0-B41E-4182-BE1E-8AA0A6E4B34F}"/>
              </a:ext>
            </a:extLst>
          </p:cNvPr>
          <p:cNvSpPr>
            <a:spLocks noGrp="1"/>
          </p:cNvSpPr>
          <p:nvPr/>
        </p:nvSpPr>
        <p:spPr>
          <a:xfrm>
            <a:off x="4514850" y="26574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下单时锁定商品并校验购买资格，保证同一商品同时只有一笔有效订单。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0E854E-53DE-4642-A13E-899132893EAE}"/>
              </a:ext>
            </a:extLst>
          </p:cNvPr>
          <p:cNvSpPr>
            <a:spLocks noGrp="1"/>
          </p:cNvSpPr>
          <p:nvPr/>
        </p:nvSpPr>
        <p:spPr>
          <a:xfrm>
            <a:off x="9220200" y="26574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 · trade_order · app_user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EEBEFFA-185C-48D9-A67D-D1734E1E5C72}"/>
              </a:ext>
            </a:extLst>
          </p:cNvPr>
          <p:cNvSpPr>
            <a:spLocks noGrp="1"/>
          </p:cNvSpPr>
          <p:nvPr/>
        </p:nvSpPr>
        <p:spPr>
          <a:xfrm>
            <a:off x="628650" y="31337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931DC1-AC1C-4873-8DE1-E4EE85D2281A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10A0AD-8B10-48AD-92E6-C246E9C71034}"/>
              </a:ext>
            </a:extLst>
          </p:cNvPr>
          <p:cNvSpPr>
            <a:spLocks noGrp="1"/>
          </p:cNvSpPr>
          <p:nvPr/>
        </p:nvSpPr>
        <p:spPr>
          <a:xfrm>
            <a:off x="1333500" y="31718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取消订单并释放商品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8D29FF-A69E-4CC0-BFF6-4A3A432C88EA}"/>
              </a:ext>
            </a:extLst>
          </p:cNvPr>
          <p:cNvSpPr>
            <a:spLocks noGrp="1"/>
          </p:cNvSpPr>
          <p:nvPr/>
        </p:nvSpPr>
        <p:spPr>
          <a:xfrm>
            <a:off x="3105150" y="31718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33B31D-9CC6-4BA9-A128-5DAE346BDC4A}"/>
              </a:ext>
            </a:extLst>
          </p:cNvPr>
          <p:cNvSpPr>
            <a:spLocks noGrp="1"/>
          </p:cNvSpPr>
          <p:nvPr/>
        </p:nvSpPr>
        <p:spPr>
          <a:xfrm>
            <a:off x="4514850" y="31718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在允许阶段取消订单，并恢复商品状态、关闭或取消关联预约。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A72B5D-7E95-47CD-B06C-BD9B722ED994}"/>
              </a:ext>
            </a:extLst>
          </p:cNvPr>
          <p:cNvSpPr>
            <a:spLocks noGrp="1"/>
          </p:cNvSpPr>
          <p:nvPr/>
        </p:nvSpPr>
        <p:spPr>
          <a:xfrm>
            <a:off x="9220200" y="31718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trade_order · goods · appointment · bargain_offer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F23F8C-F9FD-422A-9FFF-EC9AD0358D59}"/>
              </a:ext>
            </a:extLst>
          </p:cNvPr>
          <p:cNvSpPr>
            <a:spLocks noGrp="1"/>
          </p:cNvSpPr>
          <p:nvPr/>
        </p:nvSpPr>
        <p:spPr>
          <a:xfrm>
            <a:off x="628650" y="36480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33F93E7-459C-4BB4-BE06-7BAEE0554F2E}"/>
              </a:ext>
            </a:extLst>
          </p:cNvPr>
          <p:cNvSpPr>
            <a:spLocks noGrp="1"/>
          </p:cNvSpPr>
          <p:nvPr/>
        </p:nvSpPr>
        <p:spPr>
          <a:xfrm>
            <a:off x="666750" y="37052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2842B7-4BE5-4115-97C6-2D5F97D04216}"/>
              </a:ext>
            </a:extLst>
          </p:cNvPr>
          <p:cNvSpPr>
            <a:spLocks noGrp="1"/>
          </p:cNvSpPr>
          <p:nvPr/>
        </p:nvSpPr>
        <p:spPr>
          <a:xfrm>
            <a:off x="1333500" y="36861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订单列表与详情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0F3DE08-0BD8-416F-86E8-A980D3CEA516}"/>
              </a:ext>
            </a:extLst>
          </p:cNvPr>
          <p:cNvSpPr>
            <a:spLocks noGrp="1"/>
          </p:cNvSpPr>
          <p:nvPr/>
        </p:nvSpPr>
        <p:spPr>
          <a:xfrm>
            <a:off x="3105150" y="36861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买家、卖家、管理员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CA56E5-05AD-4A68-B476-B338BE110CA7}"/>
              </a:ext>
            </a:extLst>
          </p:cNvPr>
          <p:cNvSpPr>
            <a:spLocks noGrp="1"/>
          </p:cNvSpPr>
          <p:nvPr/>
        </p:nvSpPr>
        <p:spPr>
          <a:xfrm>
            <a:off x="4514850" y="36861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区分买入和卖出订单，展示商品、交易双方、成交价、面交及评价状态。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62ED5E5-C872-47B0-ABC2-82320035C58E}"/>
              </a:ext>
            </a:extLst>
          </p:cNvPr>
          <p:cNvSpPr>
            <a:spLocks noGrp="1"/>
          </p:cNvSpPr>
          <p:nvPr/>
        </p:nvSpPr>
        <p:spPr>
          <a:xfrm>
            <a:off x="9220200" y="36861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trade_order · goods · app_user · appointment · review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662C930-BC89-4DC2-BFC2-9FEA1EE9F8E0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885B7E-24F3-42F3-9311-99824CE6A9FA}"/>
              </a:ext>
            </a:extLst>
          </p:cNvPr>
          <p:cNvSpPr>
            <a:spLocks noGrp="1"/>
          </p:cNvSpPr>
          <p:nvPr/>
        </p:nvSpPr>
        <p:spPr>
          <a:xfrm>
            <a:off x="666750" y="42195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5F62CB9-1A61-430F-94C0-C097E5E93FCA}"/>
              </a:ext>
            </a:extLst>
          </p:cNvPr>
          <p:cNvSpPr>
            <a:spLocks noGrp="1"/>
          </p:cNvSpPr>
          <p:nvPr/>
        </p:nvSpPr>
        <p:spPr>
          <a:xfrm>
            <a:off x="1333500" y="42005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预约面交时间地点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646BFE3-809C-463D-8F7C-97BC30AEA709}"/>
              </a:ext>
            </a:extLst>
          </p:cNvPr>
          <p:cNvSpPr>
            <a:spLocks noGrp="1"/>
          </p:cNvSpPr>
          <p:nvPr/>
        </p:nvSpPr>
        <p:spPr>
          <a:xfrm>
            <a:off x="3105150" y="42005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4DBFE07-E83B-4425-8449-8E094323489B}"/>
              </a:ext>
            </a:extLst>
          </p:cNvPr>
          <p:cNvSpPr>
            <a:spLocks noGrp="1"/>
          </p:cNvSpPr>
          <p:nvPr/>
        </p:nvSpPr>
        <p:spPr>
          <a:xfrm>
            <a:off x="4514850" y="42005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为订单约定线下面交时间和地点，生成一单一预约及确认码。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BC9F53A-DAFE-45ED-A38E-E3B1B66D71D4}"/>
              </a:ext>
            </a:extLst>
          </p:cNvPr>
          <p:cNvSpPr>
            <a:spLocks noGrp="1"/>
          </p:cNvSpPr>
          <p:nvPr/>
        </p:nvSpPr>
        <p:spPr>
          <a:xfrm>
            <a:off x="9220200" y="42005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appointment · trade_order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1B2FFA1-2289-436E-B926-506E1EA21C6B}"/>
              </a:ext>
            </a:extLst>
          </p:cNvPr>
          <p:cNvSpPr>
            <a:spLocks noGrp="1"/>
          </p:cNvSpPr>
          <p:nvPr/>
        </p:nvSpPr>
        <p:spPr>
          <a:xfrm>
            <a:off x="628650" y="46767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3CBDD40-CEBE-4B51-A2F0-5B4B8C36A6AF}"/>
              </a:ext>
            </a:extLst>
          </p:cNvPr>
          <p:cNvSpPr>
            <a:spLocks noGrp="1"/>
          </p:cNvSpPr>
          <p:nvPr/>
        </p:nvSpPr>
        <p:spPr>
          <a:xfrm>
            <a:off x="666750" y="47339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FR-23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C543E20-DD4D-4346-AE57-E0C514E2F1AA}"/>
              </a:ext>
            </a:extLst>
          </p:cNvPr>
          <p:cNvSpPr>
            <a:spLocks noGrp="1"/>
          </p:cNvSpPr>
          <p:nvPr/>
        </p:nvSpPr>
        <p:spPr>
          <a:xfrm>
            <a:off x="1333500" y="47148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面交确认码校验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DC7886A-2462-4287-87CF-376F627330BF}"/>
              </a:ext>
            </a:extLst>
          </p:cNvPr>
          <p:cNvSpPr>
            <a:spLocks noGrp="1"/>
          </p:cNvSpPr>
          <p:nvPr/>
        </p:nvSpPr>
        <p:spPr>
          <a:xfrm>
            <a:off x="3105150" y="47148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A1E03EB-7CD5-482D-9A98-12B74FB2B954}"/>
              </a:ext>
            </a:extLst>
          </p:cNvPr>
          <p:cNvSpPr>
            <a:spLocks noGrp="1"/>
          </p:cNvSpPr>
          <p:nvPr/>
        </p:nvSpPr>
        <p:spPr>
          <a:xfrm>
            <a:off x="4514850" y="47148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核验面交确认码；错误时不改变状态，正确时进入完成流程。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8558945-39CB-4713-8033-E88A9EDE1DED}"/>
              </a:ext>
            </a:extLst>
          </p:cNvPr>
          <p:cNvSpPr>
            <a:spLocks noGrp="1"/>
          </p:cNvSpPr>
          <p:nvPr/>
        </p:nvSpPr>
        <p:spPr>
          <a:xfrm>
            <a:off x="9220200" y="47148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appointment · trade_order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3408ED8-EDA1-4EBA-B255-98F89781FB94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9A10412-5648-4F2D-A4F5-A62C1C920216}"/>
              </a:ext>
            </a:extLst>
          </p:cNvPr>
          <p:cNvSpPr>
            <a:spLocks noGrp="1"/>
          </p:cNvSpPr>
          <p:nvPr/>
        </p:nvSpPr>
        <p:spPr>
          <a:xfrm>
            <a:off x="666750" y="524827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FR-24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1FE92FA-E8AE-40A1-92D8-6CEC74D458BD}"/>
              </a:ext>
            </a:extLst>
          </p:cNvPr>
          <p:cNvSpPr>
            <a:spLocks noGrp="1"/>
          </p:cNvSpPr>
          <p:nvPr/>
        </p:nvSpPr>
        <p:spPr>
          <a:xfrm>
            <a:off x="1333500" y="522922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确认交易完成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C67900A-4B8C-4AF0-95CE-8EFF394B96C3}"/>
              </a:ext>
            </a:extLst>
          </p:cNvPr>
          <p:cNvSpPr>
            <a:spLocks noGrp="1"/>
          </p:cNvSpPr>
          <p:nvPr/>
        </p:nvSpPr>
        <p:spPr>
          <a:xfrm>
            <a:off x="3105150" y="522922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买家、卖家、系统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0C33949-95E6-4727-A74E-42972BA64FF4}"/>
              </a:ext>
            </a:extLst>
          </p:cNvPr>
          <p:cNvSpPr>
            <a:spLocks noGrp="1"/>
          </p:cNvSpPr>
          <p:nvPr/>
        </p:nvSpPr>
        <p:spPr>
          <a:xfrm>
            <a:off x="4514850" y="522922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将预约和订单更新为已完成，并将商品更新为已售出。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9E17E79-4842-4C7D-8894-C9C26720EFDB}"/>
              </a:ext>
            </a:extLst>
          </p:cNvPr>
          <p:cNvSpPr>
            <a:spLocks noGrp="1"/>
          </p:cNvSpPr>
          <p:nvPr/>
        </p:nvSpPr>
        <p:spPr>
          <a:xfrm>
            <a:off x="9220200" y="52292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appointment · trade_order · goods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AA0EE1D-F349-499C-B051-2CF8D9E4AC3C}"/>
              </a:ext>
            </a:extLst>
          </p:cNvPr>
          <p:cNvSpPr>
            <a:spLocks noGrp="1"/>
          </p:cNvSpPr>
          <p:nvPr/>
        </p:nvSpPr>
        <p:spPr>
          <a:xfrm>
            <a:off x="628650" y="570547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ED00B5E-CA41-4855-932E-C46E4469CEE3}"/>
              </a:ext>
            </a:extLst>
          </p:cNvPr>
          <p:cNvSpPr>
            <a:spLocks noGrp="1"/>
          </p:cNvSpPr>
          <p:nvPr/>
        </p:nvSpPr>
        <p:spPr>
          <a:xfrm>
            <a:off x="666750" y="5762625"/>
            <a:ext cx="571500" cy="4476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FR-25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E53A7C7-34A3-4955-A153-F3ABE1F801DA}"/>
              </a:ext>
            </a:extLst>
          </p:cNvPr>
          <p:cNvSpPr>
            <a:spLocks noGrp="1"/>
          </p:cNvSpPr>
          <p:nvPr/>
        </p:nvSpPr>
        <p:spPr>
          <a:xfrm>
            <a:off x="1333500" y="5743575"/>
            <a:ext cx="16764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双向评价与信用分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51FCFC5-3769-41C5-A6F4-DD4E1475211A}"/>
              </a:ext>
            </a:extLst>
          </p:cNvPr>
          <p:cNvSpPr>
            <a:spLocks noGrp="1"/>
          </p:cNvSpPr>
          <p:nvPr/>
        </p:nvSpPr>
        <p:spPr>
          <a:xfrm>
            <a:off x="3105150" y="5743575"/>
            <a:ext cx="131445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买家、卖家、系统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807F6F4-6F53-49E3-8C7D-F8E60AC7156A}"/>
              </a:ext>
            </a:extLst>
          </p:cNvPr>
          <p:cNvSpPr>
            <a:spLocks noGrp="1"/>
          </p:cNvSpPr>
          <p:nvPr/>
        </p:nvSpPr>
        <p:spPr>
          <a:xfrm>
            <a:off x="4514850" y="5743575"/>
            <a:ext cx="46101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完成订单后双方互评，限制重复评价，并根据成交和评分规则更新信用分。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6883788-80C9-452A-BF7D-61443982051F}"/>
              </a:ext>
            </a:extLst>
          </p:cNvPr>
          <p:cNvSpPr>
            <a:spLocks noGrp="1"/>
          </p:cNvSpPr>
          <p:nvPr/>
        </p:nvSpPr>
        <p:spPr>
          <a:xfrm>
            <a:off x="9220200" y="57435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review · trade_order · app_user</a:t>
            </a:r>
          </a:p>
        </p:txBody>
      </p:sp>
    </p:spTree>
    <p:extLst>
      <p:ext uri="{BB962C8B-B14F-4D97-AF65-F5344CB8AC3E}">
        <p14:creationId xmlns:p14="http://schemas.microsoft.com/office/powerpoint/2010/main" val="510820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C61E01E7-D4A1-440B-AC5B-BFA93F6CFD4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系统功能需求与数据表（4/4）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00DBC5-1142-4927-B313-9817CA0F6CCA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7A05C0C-61D4-440F-851B-D6AB823FF0B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70B736-5911-4396-9BB9-09F9CA43B71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举报、平台治理与 AI 使用帮助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9947B0-1F3F-4BA0-98A7-8931C735B67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4CD278-BB38-4558-A7A7-E98AA30317A8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5CD98D-6A7E-4841-AB4F-BD9A4D508CD1}"/>
              </a:ext>
            </a:extLst>
          </p:cNvPr>
          <p:cNvSpPr>
            <a:spLocks noGrp="1"/>
          </p:cNvSpPr>
          <p:nvPr/>
        </p:nvSpPr>
        <p:spPr>
          <a:xfrm>
            <a:off x="3105150" y="1714500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C67993-2BCF-48CA-BF73-B61F1C251DE3}"/>
              </a:ext>
            </a:extLst>
          </p:cNvPr>
          <p:cNvSpPr>
            <a:spLocks noGrp="1"/>
          </p:cNvSpPr>
          <p:nvPr/>
        </p:nvSpPr>
        <p:spPr>
          <a:xfrm>
            <a:off x="4514850" y="17145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需求说明（设计与实现文档原文）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57B090-E6D3-4ED7-A571-0587AE3F0711}"/>
              </a:ext>
            </a:extLst>
          </p:cNvPr>
          <p:cNvSpPr>
            <a:spLocks noGrp="1"/>
          </p:cNvSpPr>
          <p:nvPr/>
        </p:nvSpPr>
        <p:spPr>
          <a:xfrm>
            <a:off x="9220200" y="1714500"/>
            <a:ext cx="2247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涉及数据表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088AFE-B031-4752-A3B3-F935C7DB6C48}"/>
              </a:ext>
            </a:extLst>
          </p:cNvPr>
          <p:cNvSpPr>
            <a:spLocks noGrp="1"/>
          </p:cNvSpPr>
          <p:nvPr/>
        </p:nvSpPr>
        <p:spPr>
          <a:xfrm>
            <a:off x="628650" y="2019300"/>
            <a:ext cx="10858500" cy="1905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CBF27C-876C-40C1-B5C0-6D5EDE85F986}"/>
              </a:ext>
            </a:extLst>
          </p:cNvPr>
          <p:cNvSpPr>
            <a:spLocks noGrp="1"/>
          </p:cNvSpPr>
          <p:nvPr/>
        </p:nvSpPr>
        <p:spPr>
          <a:xfrm>
            <a:off x="666750" y="21621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CE6E9A-3CC4-4552-8F60-9FC8F5E66573}"/>
              </a:ext>
            </a:extLst>
          </p:cNvPr>
          <p:cNvSpPr>
            <a:spLocks noGrp="1"/>
          </p:cNvSpPr>
          <p:nvPr/>
        </p:nvSpPr>
        <p:spPr>
          <a:xfrm>
            <a:off x="1333500" y="2143125"/>
            <a:ext cx="16764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举报商品、用户或订单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371CE9-EB7D-4738-91C7-D4212B32C934}"/>
              </a:ext>
            </a:extLst>
          </p:cNvPr>
          <p:cNvSpPr>
            <a:spLocks noGrp="1"/>
          </p:cNvSpPr>
          <p:nvPr/>
        </p:nvSpPr>
        <p:spPr>
          <a:xfrm>
            <a:off x="3105150" y="2143125"/>
            <a:ext cx="13144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注册用户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C1459B-AEF7-4135-AA8E-1BDFAEF65EA3}"/>
              </a:ext>
            </a:extLst>
          </p:cNvPr>
          <p:cNvSpPr>
            <a:spLocks noGrp="1"/>
          </p:cNvSpPr>
          <p:nvPr/>
        </p:nvSpPr>
        <p:spPr>
          <a:xfrm>
            <a:off x="4514850" y="2143125"/>
            <a:ext cx="46101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选择商品、用户或订单作为唯一举报目标并填写举报原因。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AF5A1B-3C8C-4894-9E70-7B4235A4D089}"/>
              </a:ext>
            </a:extLst>
          </p:cNvPr>
          <p:cNvSpPr>
            <a:spLocks noGrp="1"/>
          </p:cNvSpPr>
          <p:nvPr/>
        </p:nvSpPr>
        <p:spPr>
          <a:xfrm>
            <a:off x="9220200" y="2143125"/>
            <a:ext cx="22479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report · goods · app_user · trade_order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343596-979F-4585-AA6D-B654227B6B63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E62E9A-CC8B-47D5-90DE-01C4D9C76124}"/>
              </a:ext>
            </a:extLst>
          </p:cNvPr>
          <p:cNvSpPr>
            <a:spLocks noGrp="1"/>
          </p:cNvSpPr>
          <p:nvPr/>
        </p:nvSpPr>
        <p:spPr>
          <a:xfrm>
            <a:off x="666750" y="28479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FR-27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772AC9-C47A-49FC-A54B-2892A5507DE2}"/>
              </a:ext>
            </a:extLst>
          </p:cNvPr>
          <p:cNvSpPr>
            <a:spLocks noGrp="1"/>
          </p:cNvSpPr>
          <p:nvPr/>
        </p:nvSpPr>
        <p:spPr>
          <a:xfrm>
            <a:off x="1333500" y="2828925"/>
            <a:ext cx="16764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管理员处理举报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B137B4-489D-427A-B9F2-853EFD800B59}"/>
              </a:ext>
            </a:extLst>
          </p:cNvPr>
          <p:cNvSpPr>
            <a:spLocks noGrp="1"/>
          </p:cNvSpPr>
          <p:nvPr/>
        </p:nvSpPr>
        <p:spPr>
          <a:xfrm>
            <a:off x="3105150" y="2828925"/>
            <a:ext cx="13144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AD66662-4088-46DF-8919-009F6EAFDA9C}"/>
              </a:ext>
            </a:extLst>
          </p:cNvPr>
          <p:cNvSpPr>
            <a:spLocks noGrp="1"/>
          </p:cNvSpPr>
          <p:nvPr/>
        </p:nvSpPr>
        <p:spPr>
          <a:xfrm>
            <a:off x="4514850" y="2828925"/>
            <a:ext cx="46101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处理或驳回举报，记录审核日志，可联动下架商品或封禁用户。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27E9F6E-890F-4D3C-AA99-E61547936A08}"/>
              </a:ext>
            </a:extLst>
          </p:cNvPr>
          <p:cNvSpPr>
            <a:spLocks noGrp="1"/>
          </p:cNvSpPr>
          <p:nvPr/>
        </p:nvSpPr>
        <p:spPr>
          <a:xfrm>
            <a:off x="9220200" y="2828925"/>
            <a:ext cx="22479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report · audit_log · goods · app_user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02A749-B0BC-4E90-8600-D6E8668CAAB6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2E0E787-BD00-4389-8845-C2E1E13F32AB}"/>
              </a:ext>
            </a:extLst>
          </p:cNvPr>
          <p:cNvSpPr>
            <a:spLocks noGrp="1"/>
          </p:cNvSpPr>
          <p:nvPr/>
        </p:nvSpPr>
        <p:spPr>
          <a:xfrm>
            <a:off x="666750" y="35337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FR-28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BE04C5-736B-4473-9233-F1E6820A07C2}"/>
              </a:ext>
            </a:extLst>
          </p:cNvPr>
          <p:cNvSpPr>
            <a:spLocks noGrp="1"/>
          </p:cNvSpPr>
          <p:nvPr/>
        </p:nvSpPr>
        <p:spPr>
          <a:xfrm>
            <a:off x="1333500" y="3514725"/>
            <a:ext cx="16764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用户封禁与解禁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69FF0EE-4551-408F-8DD4-069CC46A5852}"/>
              </a:ext>
            </a:extLst>
          </p:cNvPr>
          <p:cNvSpPr>
            <a:spLocks noGrp="1"/>
          </p:cNvSpPr>
          <p:nvPr/>
        </p:nvSpPr>
        <p:spPr>
          <a:xfrm>
            <a:off x="3105150" y="3514725"/>
            <a:ext cx="13144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A42C02-C611-43DD-B6FF-83569126813A}"/>
              </a:ext>
            </a:extLst>
          </p:cNvPr>
          <p:cNvSpPr>
            <a:spLocks noGrp="1"/>
          </p:cNvSpPr>
          <p:nvPr/>
        </p:nvSpPr>
        <p:spPr>
          <a:xfrm>
            <a:off x="4514850" y="3514725"/>
            <a:ext cx="46101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封禁时下架该用户在售商品；支持解禁并记录审计日志。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A82A86-7629-42C8-99C0-FCE68AE98DB0}"/>
              </a:ext>
            </a:extLst>
          </p:cNvPr>
          <p:cNvSpPr>
            <a:spLocks noGrp="1"/>
          </p:cNvSpPr>
          <p:nvPr/>
        </p:nvSpPr>
        <p:spPr>
          <a:xfrm>
            <a:off x="9220200" y="3514725"/>
            <a:ext cx="22479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app_user · goods · audit_log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92D1AE-BFC2-49F2-AFDF-117CA26DB383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2F626D-591A-4587-ACB6-028EB5F053E8}"/>
              </a:ext>
            </a:extLst>
          </p:cNvPr>
          <p:cNvSpPr>
            <a:spLocks noGrp="1"/>
          </p:cNvSpPr>
          <p:nvPr/>
        </p:nvSpPr>
        <p:spPr>
          <a:xfrm>
            <a:off x="666750" y="42195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FR-29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668675D-3505-4138-9A4A-1296E05C8812}"/>
              </a:ext>
            </a:extLst>
          </p:cNvPr>
          <p:cNvSpPr>
            <a:spLocks noGrp="1"/>
          </p:cNvSpPr>
          <p:nvPr/>
        </p:nvSpPr>
        <p:spPr>
          <a:xfrm>
            <a:off x="1333500" y="4200525"/>
            <a:ext cx="16764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公告发布与后台统计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B7CA8F-42EE-4551-B91D-FB556A1FBFC1}"/>
              </a:ext>
            </a:extLst>
          </p:cNvPr>
          <p:cNvSpPr>
            <a:spLocks noGrp="1"/>
          </p:cNvSpPr>
          <p:nvPr/>
        </p:nvSpPr>
        <p:spPr>
          <a:xfrm>
            <a:off x="3105150" y="4200525"/>
            <a:ext cx="13144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918B05C-AF94-4AAD-ADF4-87B41C205AAC}"/>
              </a:ext>
            </a:extLst>
          </p:cNvPr>
          <p:cNvSpPr>
            <a:spLocks noGrp="1"/>
          </p:cNvSpPr>
          <p:nvPr/>
        </p:nvSpPr>
        <p:spPr>
          <a:xfrm>
            <a:off x="4514850" y="4200525"/>
            <a:ext cx="46101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发布、编辑、删除系统公告，并查询用户量、商品量、订单量和交易情况等统计信息。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7DFCB6B-6CBE-4CBC-910A-7959FBC446EF}"/>
              </a:ext>
            </a:extLst>
          </p:cNvPr>
          <p:cNvSpPr>
            <a:spLocks noGrp="1"/>
          </p:cNvSpPr>
          <p:nvPr/>
        </p:nvSpPr>
        <p:spPr>
          <a:xfrm>
            <a:off x="9220200" y="4200525"/>
            <a:ext cx="22479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notice · app_user · goods · trade_order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C690A0D-3157-469B-9BC0-CA494525C801}"/>
              </a:ext>
            </a:extLst>
          </p:cNvPr>
          <p:cNvSpPr>
            <a:spLocks noGrp="1"/>
          </p:cNvSpPr>
          <p:nvPr/>
        </p:nvSpPr>
        <p:spPr>
          <a:xfrm>
            <a:off x="628650" y="48482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AEBF22A-F6CA-4666-BEB5-9461B75EBCF3}"/>
              </a:ext>
            </a:extLst>
          </p:cNvPr>
          <p:cNvSpPr>
            <a:spLocks noGrp="1"/>
          </p:cNvSpPr>
          <p:nvPr/>
        </p:nvSpPr>
        <p:spPr>
          <a:xfrm>
            <a:off x="666750" y="49053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FR-30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A3A9B5-E618-4C95-8A3F-78CAAED6F176}"/>
              </a:ext>
            </a:extLst>
          </p:cNvPr>
          <p:cNvSpPr>
            <a:spLocks noGrp="1"/>
          </p:cNvSpPr>
          <p:nvPr/>
        </p:nvSpPr>
        <p:spPr>
          <a:xfrm>
            <a:off x="1333500" y="4886325"/>
            <a:ext cx="16764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C32BEE-C16F-4C99-8137-04418846DAAA}"/>
              </a:ext>
            </a:extLst>
          </p:cNvPr>
          <p:cNvSpPr>
            <a:spLocks noGrp="1"/>
          </p:cNvSpPr>
          <p:nvPr/>
        </p:nvSpPr>
        <p:spPr>
          <a:xfrm>
            <a:off x="3105150" y="4886325"/>
            <a:ext cx="13144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系统、管理员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D27A640-5290-4ADE-B3A0-F1642257F0F2}"/>
              </a:ext>
            </a:extLst>
          </p:cNvPr>
          <p:cNvSpPr>
            <a:spLocks noGrp="1"/>
          </p:cNvSpPr>
          <p:nvPr/>
        </p:nvSpPr>
        <p:spPr>
          <a:xfrm>
            <a:off x="4514850" y="4886325"/>
            <a:ext cx="46101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自动记录商品审核、举报处理、用户封禁和管理员下架等操作，供管理员只读查询。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DC93D66-1907-4124-94B5-633174D578AF}"/>
              </a:ext>
            </a:extLst>
          </p:cNvPr>
          <p:cNvSpPr>
            <a:spLocks noGrp="1"/>
          </p:cNvSpPr>
          <p:nvPr/>
        </p:nvSpPr>
        <p:spPr>
          <a:xfrm>
            <a:off x="9220200" y="4886325"/>
            <a:ext cx="22479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audit_log · app_user · goods · report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D7C1021-183D-4155-AEAC-1481F7C5379D}"/>
              </a:ext>
            </a:extLst>
          </p:cNvPr>
          <p:cNvSpPr>
            <a:spLocks noGrp="1"/>
          </p:cNvSpPr>
          <p:nvPr/>
        </p:nvSpPr>
        <p:spPr>
          <a:xfrm>
            <a:off x="628650" y="5534025"/>
            <a:ext cx="1085850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50D104-0FD1-4E1E-96E8-E8A755171C51}"/>
              </a:ext>
            </a:extLst>
          </p:cNvPr>
          <p:cNvSpPr>
            <a:spLocks noGrp="1"/>
          </p:cNvSpPr>
          <p:nvPr/>
        </p:nvSpPr>
        <p:spPr>
          <a:xfrm>
            <a:off x="666750" y="5591175"/>
            <a:ext cx="571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06C5D"/>
                </a:solidFill>
                <a:latin typeface="Consolas"/>
                <a:ea typeface="Consolas"/>
                <a:cs typeface="Consolas"/>
              </a:rPr>
              <a:t>FR-31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D62944-3E1D-49FD-9944-64DAAEAFEE56}"/>
              </a:ext>
            </a:extLst>
          </p:cNvPr>
          <p:cNvSpPr>
            <a:spLocks noGrp="1"/>
          </p:cNvSpPr>
          <p:nvPr/>
        </p:nvSpPr>
        <p:spPr>
          <a:xfrm>
            <a:off x="1333500" y="5572125"/>
            <a:ext cx="16764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帮助中心与AI问答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6C2F81A-5D29-467F-8B54-83E675271E8B}"/>
              </a:ext>
            </a:extLst>
          </p:cNvPr>
          <p:cNvSpPr>
            <a:spLocks noGrp="1"/>
          </p:cNvSpPr>
          <p:nvPr/>
        </p:nvSpPr>
        <p:spPr>
          <a:xfrm>
            <a:off x="3105150" y="5572125"/>
            <a:ext cx="131445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访客、注册用户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DA3FD61-C125-4B90-91CB-14C5C73185ED}"/>
              </a:ext>
            </a:extLst>
          </p:cNvPr>
          <p:cNvSpPr>
            <a:spLocks noGrp="1"/>
          </p:cNvSpPr>
          <p:nvPr/>
        </p:nvSpPr>
        <p:spPr>
          <a:xfrm>
            <a:off x="4514850" y="5572125"/>
            <a:ext cx="46101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展示平台使用手册，并通过不访问用户业务数据的AI助手回答使用问题。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2D586AE-CD06-419F-9033-FD55CF18C7ED}"/>
              </a:ext>
            </a:extLst>
          </p:cNvPr>
          <p:cNvSpPr>
            <a:spLocks noGrp="1"/>
          </p:cNvSpPr>
          <p:nvPr/>
        </p:nvSpPr>
        <p:spPr>
          <a:xfrm>
            <a:off x="9220200" y="5572125"/>
            <a:ext cx="2247900" cy="638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81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81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无业务表（使用手册知识库）</a:t>
            </a:r>
          </a:p>
        </p:txBody>
      </p:sp>
    </p:spTree>
    <p:extLst>
      <p:ext uri="{BB962C8B-B14F-4D97-AF65-F5344CB8AC3E}">
        <p14:creationId xmlns:p14="http://schemas.microsoft.com/office/powerpoint/2010/main" val="169582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FD88AC3-37C7-4851-9540-68D92B4B334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分层架构与技术选型：一次下单怎样执行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A4BF8A-CF3B-4EE7-9B32-216463E739BA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62944F3-55FA-4572-80CF-FC52C9BF3B5F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CA41610-B4B3-4203-9CE3-54D5F14C4FB4}"/>
              </a:ext>
            </a:extLst>
          </p:cNvPr>
          <p:cNvSpPr>
            <a:spLocks noGrp="1"/>
          </p:cNvSpPr>
          <p:nvPr/>
        </p:nvSpPr>
        <p:spPr>
          <a:xfrm>
            <a:off x="590550" y="1819275"/>
            <a:ext cx="7029450" cy="571500"/>
          </a:xfrm>
          <a:prstGeom prst="roundRect">
            <a:avLst>
              <a:gd name="adj" fmla="val 16667"/>
            </a:avLst>
          </a:prstGeom>
          <a:solidFill>
            <a:srgbClr val="EAF6F4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A544ED-742E-4208-A488-2421DEB9EBC0}"/>
              </a:ext>
            </a:extLst>
          </p:cNvPr>
          <p:cNvSpPr>
            <a:spLocks noGrp="1"/>
          </p:cNvSpPr>
          <p:nvPr/>
        </p:nvSpPr>
        <p:spPr>
          <a:xfrm>
            <a:off x="781050" y="193357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页面层 · Vue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72F191-DCF8-4467-BC65-9F3C7852FFD5}"/>
              </a:ext>
            </a:extLst>
          </p:cNvPr>
          <p:cNvSpPr>
            <a:spLocks noGrp="1"/>
          </p:cNvSpPr>
          <p:nvPr/>
        </p:nvSpPr>
        <p:spPr>
          <a:xfrm>
            <a:off x="2971800" y="1933575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Detail.vue 收集商品和报价；Pinia 保存登录状态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7F60E3E-489F-4A3D-841F-5C804239C111}"/>
              </a:ext>
            </a:extLst>
          </p:cNvPr>
          <p:cNvSpPr>
            <a:spLocks noGrp="1"/>
          </p:cNvSpPr>
          <p:nvPr/>
        </p:nvSpPr>
        <p:spPr>
          <a:xfrm>
            <a:off x="590550" y="2600325"/>
            <a:ext cx="7029450" cy="571500"/>
          </a:xfrm>
          <a:prstGeom prst="roundRect">
            <a:avLst>
              <a:gd name="adj" fmla="val 16667"/>
            </a:avLst>
          </a:prstGeom>
          <a:solidFill>
            <a:srgbClr val="DDF3EE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709B06-A533-4C69-B254-BCEF8FEE2520}"/>
              </a:ext>
            </a:extLst>
          </p:cNvPr>
          <p:cNvSpPr>
            <a:spLocks noGrp="1"/>
          </p:cNvSpPr>
          <p:nvPr/>
        </p:nvSpPr>
        <p:spPr>
          <a:xfrm>
            <a:off x="781050" y="271462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接口层 · ASP.NET Core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2D0DE5-4B56-4AC7-88A0-F5711DF63B8D}"/>
              </a:ext>
            </a:extLst>
          </p:cNvPr>
          <p:cNvSpPr>
            <a:spLocks noGrp="1"/>
          </p:cNvSpPr>
          <p:nvPr/>
        </p:nvSpPr>
        <p:spPr>
          <a:xfrm>
            <a:off x="2971800" y="2714625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OrdersController 接收 JSON、解析 Bearer Token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3E71628-F62C-4754-86E2-6C91E4929EE1}"/>
              </a:ext>
            </a:extLst>
          </p:cNvPr>
          <p:cNvSpPr>
            <a:spLocks noGrp="1"/>
          </p:cNvSpPr>
          <p:nvPr/>
        </p:nvSpPr>
        <p:spPr>
          <a:xfrm>
            <a:off x="590550" y="3381375"/>
            <a:ext cx="7029450" cy="571500"/>
          </a:xfrm>
          <a:prstGeom prst="roundRect">
            <a:avLst>
              <a:gd name="adj" fmla="val 16667"/>
            </a:avLst>
          </a:prstGeom>
          <a:solidFill>
            <a:srgbClr val="C9E9E5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281192-CC5A-428B-B4B2-19AD977A2F31}"/>
              </a:ext>
            </a:extLst>
          </p:cNvPr>
          <p:cNvSpPr>
            <a:spLocks noGrp="1"/>
          </p:cNvSpPr>
          <p:nvPr/>
        </p:nvSpPr>
        <p:spPr>
          <a:xfrm>
            <a:off x="781050" y="349567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业务层 · Service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E58B3F-A02D-45D6-AD7A-74A0BEF351A6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OrderService 检查参数，决定允许执行哪种业务动作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1AE782C-CA85-4CBC-90B5-DE6F647C4E12}"/>
              </a:ext>
            </a:extLst>
          </p:cNvPr>
          <p:cNvSpPr>
            <a:spLocks noGrp="1"/>
          </p:cNvSpPr>
          <p:nvPr/>
        </p:nvSpPr>
        <p:spPr>
          <a:xfrm>
            <a:off x="590550" y="4162425"/>
            <a:ext cx="7029450" cy="571500"/>
          </a:xfrm>
          <a:prstGeom prst="roundRect">
            <a:avLst>
              <a:gd name="adj" fmla="val 16667"/>
            </a:avLst>
          </a:prstGeom>
          <a:solidFill>
            <a:srgbClr val="A7D9D4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52BA44-EC22-45DB-A39A-C911CA3313E8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数据层 · Dapper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E681BB-2824-4962-A99F-140315E406B4}"/>
              </a:ext>
            </a:extLst>
          </p:cNvPr>
          <p:cNvSpPr>
            <a:spLocks noGrp="1"/>
          </p:cNvSpPr>
          <p:nvPr/>
        </p:nvSpPr>
        <p:spPr>
          <a:xfrm>
            <a:off x="2971800" y="4276725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OrderRepository 把参数安全传给 SQL / 存储过程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718537C-BD81-4317-A2AF-8A08C2F7C07E}"/>
              </a:ext>
            </a:extLst>
          </p:cNvPr>
          <p:cNvSpPr>
            <a:spLocks noGrp="1"/>
          </p:cNvSpPr>
          <p:nvPr/>
        </p:nvSpPr>
        <p:spPr>
          <a:xfrm>
            <a:off x="590550" y="4943475"/>
            <a:ext cx="7029450" cy="571500"/>
          </a:xfrm>
          <a:prstGeom prst="roundRect">
            <a:avLst>
              <a:gd name="adj" fmla="val 16667"/>
            </a:avLst>
          </a:prstGeom>
          <a:solidFill>
            <a:srgbClr val="7CC4BD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672AE4-C0F7-49C9-9FBE-C79305E431F0}"/>
              </a:ext>
            </a:extLst>
          </p:cNvPr>
          <p:cNvSpPr>
            <a:spLocks noGrp="1"/>
          </p:cNvSpPr>
          <p:nvPr/>
        </p:nvSpPr>
        <p:spPr>
          <a:xfrm>
            <a:off x="781050" y="505777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数据库 · Oracle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3816B2-6C4F-4297-BD51-68EEA747C7CF}"/>
              </a:ext>
            </a:extLst>
          </p:cNvPr>
          <p:cNvSpPr>
            <a:spLocks noGrp="1"/>
          </p:cNvSpPr>
          <p:nvPr/>
        </p:nvSpPr>
        <p:spPr>
          <a:xfrm>
            <a:off x="2971800" y="5057775"/>
            <a:ext cx="44196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行锁、约束和 sp_place_order 保证只成交一次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515C5C-C741-4E44-9FC4-F7ED1E6EBB1E}"/>
              </a:ext>
            </a:extLst>
          </p:cNvPr>
          <p:cNvSpPr>
            <a:spLocks noGrp="1"/>
          </p:cNvSpPr>
          <p:nvPr/>
        </p:nvSpPr>
        <p:spPr>
          <a:xfrm>
            <a:off x="8077200" y="2276475"/>
            <a:ext cx="3333750" cy="3390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Vue 3 + Arco</a:t>
            </a: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组件化页面，快速搭建前台与管理后台</a:t>
            </a:r>
          </a:p>
          <a:p>
            <a:endParaRPr sz="1125" b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ASP.NET Core</a:t>
            </a: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路由、DTO、认证与依赖注入结构清晰</a:t>
            </a:r>
          </a:p>
          <a:p>
            <a:endParaRPr sz="1125" b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Dapper</a:t>
            </a: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保留手写 SQL，便于直接调用 Oracle 对象</a:t>
            </a:r>
          </a:p>
          <a:p>
            <a:endParaRPr sz="1125" b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Oracle 23c Free</a:t>
            </a: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事务、行锁、过程和触发器适合课程重点</a:t>
            </a:r>
          </a:p>
          <a:p>
            <a:endParaRPr sz="1125" b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Docker Compose</a:t>
            </a:r>
          </a:p>
          <a:p>
            <a:pPr algn="l">
              <a:def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统一数据库、后端与前端运行环境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90BDDB-A0EB-41A2-8AC8-807D96B862BF}"/>
              </a:ext>
            </a:extLst>
          </p:cNvPr>
          <p:cNvSpPr>
            <a:spLocks noGrp="1"/>
          </p:cNvSpPr>
          <p:nvPr/>
        </p:nvSpPr>
        <p:spPr>
          <a:xfrm>
            <a:off x="781050" y="5667375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endParaRPr sz="1200" b="1" dirty="0">
              <a:solidFill>
                <a:srgbClr val="0C5E5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5DE5DC-39FE-4C55-9F9C-EC2FAF87D28D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 err="1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示例调用链：Detail.vue</a:t>
            </a:r>
            <a:r>
              <a:rPr sz="900" b="0" dirty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900" b="0" dirty="0" err="1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OrdersController</a:t>
            </a:r>
            <a:r>
              <a:rPr sz="900" b="0" dirty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900" b="0" dirty="0" err="1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OrderService</a:t>
            </a:r>
            <a:r>
              <a:rPr sz="900" b="0" dirty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900" b="0" dirty="0" err="1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OrderRepository</a:t>
            </a:r>
            <a:r>
              <a:rPr sz="900" b="0" dirty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900" b="0" dirty="0" err="1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sp_place_order</a:t>
            </a:r>
            <a:endParaRPr sz="900" b="0" dirty="0">
              <a:solidFill>
                <a:srgbClr val="78879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4190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758F7DA-063F-4117-B4E4-D9A12300F68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商品与订单状态转换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242223-5147-4BC4-8E69-9BD482E9FCF9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F8AD13B-FFB0-496C-88A1-77AF21AB8F2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6FBA9F-51BA-40C0-97E3-D278B83CDF32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6667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数据库只允许规定路径上的状态变化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428083-CDC3-4A53-B345-1B838EAEA0F5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公开条件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677FB4-6FF7-45FA-855F-E94D0097D857}"/>
              </a:ext>
            </a:extLst>
          </p:cNvPr>
          <p:cNvSpPr>
            <a:spLocks noGrp="1"/>
          </p:cNvSpPr>
          <p:nvPr/>
        </p:nvSpPr>
        <p:spPr>
          <a:xfrm>
            <a:off x="647700" y="2190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只有 approved 商品进入公开列表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D20490-294D-489D-B00C-46CABD92641E}"/>
              </a:ext>
            </a:extLst>
          </p:cNvPr>
          <p:cNvSpPr>
            <a:spLocks noGrp="1"/>
          </p:cNvSpPr>
          <p:nvPr/>
        </p:nvSpPr>
        <p:spPr>
          <a:xfrm>
            <a:off x="4362450" y="1866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下单锁定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386D01-0870-496C-A34F-812851BE9530}"/>
              </a:ext>
            </a:extLst>
          </p:cNvPr>
          <p:cNvSpPr>
            <a:spLocks noGrp="1"/>
          </p:cNvSpPr>
          <p:nvPr/>
        </p:nvSpPr>
        <p:spPr>
          <a:xfrm>
            <a:off x="4362450" y="2190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approved 切换为 locked，避免重复成交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A23AD5-8A5C-447D-8758-B24B9FA0D644}"/>
              </a:ext>
            </a:extLst>
          </p:cNvPr>
          <p:cNvSpPr>
            <a:spLocks noGrp="1"/>
          </p:cNvSpPr>
          <p:nvPr/>
        </p:nvSpPr>
        <p:spPr>
          <a:xfrm>
            <a:off x="8077200" y="1866900"/>
            <a:ext cx="11620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取消恢复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4C99CE-D959-413D-B98A-34EAE85B621A}"/>
              </a:ext>
            </a:extLst>
          </p:cNvPr>
          <p:cNvSpPr>
            <a:spLocks noGrp="1"/>
          </p:cNvSpPr>
          <p:nvPr/>
        </p:nvSpPr>
        <p:spPr>
          <a:xfrm>
            <a:off x="8077200" y="2190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订单取消后恢复商品，并同步取消预约</a:t>
            </a:r>
          </a:p>
        </p:txBody>
      </p:sp>
      <p:pic>
        <p:nvPicPr>
          <p:cNvPr id="2051" name="Picture 3" descr="商品、订单与面交状态流转图，展示下单、预约、确认码核验、完成和取消后的状态变化">
            <a:extLst>
              <a:ext uri="{FF2B5EF4-FFF2-40B4-BE49-F238E27FC236}">
                <a16:creationId xmlns:a16="http://schemas.microsoft.com/office/drawing/2014/main" id="{BC79D893-F109-3226-7148-2A999AF7C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7" y="2722321"/>
            <a:ext cx="8010525" cy="4004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323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5BBFBB7-6617-4A8F-A04B-D3B39875643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数据库模型与完整性约束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BE5799-6E68-4EBF-84AD-AFB3802F586E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057A9ED-B882-40A5-B0D1-B3416100ADAA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576341-99E1-4B16-89DC-255C745159CD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1238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685E64-3A04-4E5D-AD35-D3E2E57DEF22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张核心表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E9539A-D336-4751-92F3-2FE467C360BC}"/>
              </a:ext>
            </a:extLst>
          </p:cNvPr>
          <p:cNvSpPr>
            <a:spLocks noGrp="1"/>
          </p:cNvSpPr>
          <p:nvPr/>
        </p:nvSpPr>
        <p:spPr>
          <a:xfrm>
            <a:off x="2324100" y="1314450"/>
            <a:ext cx="12382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9CA944-57CE-4AEC-9BC8-50FF6FBB3B53}"/>
              </a:ext>
            </a:extLst>
          </p:cNvPr>
          <p:cNvSpPr>
            <a:spLocks noGrp="1"/>
          </p:cNvSpPr>
          <p:nvPr/>
        </p:nvSpPr>
        <p:spPr>
          <a:xfrm>
            <a:off x="2343150" y="19526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个索引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3EF257-83D6-4CC1-ACE3-21A5B0B9FBDB}"/>
              </a:ext>
            </a:extLst>
          </p:cNvPr>
          <p:cNvSpPr>
            <a:spLocks noGrp="1"/>
          </p:cNvSpPr>
          <p:nvPr/>
        </p:nvSpPr>
        <p:spPr>
          <a:xfrm>
            <a:off x="3905250" y="1314450"/>
            <a:ext cx="15240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3NF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3B36EC-2D5E-46E4-8B39-BFD642A6B9E2}"/>
              </a:ext>
            </a:extLst>
          </p:cNvPr>
          <p:cNvSpPr>
            <a:spLocks noGrp="1"/>
          </p:cNvSpPr>
          <p:nvPr/>
        </p:nvSpPr>
        <p:spPr>
          <a:xfrm>
            <a:off x="3924300" y="19526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关系模式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88BFCE-8F2C-436C-B52E-4FB3C922ED69}"/>
              </a:ext>
            </a:extLst>
          </p:cNvPr>
          <p:cNvSpPr>
            <a:spLocks noGrp="1"/>
          </p:cNvSpPr>
          <p:nvPr/>
        </p:nvSpPr>
        <p:spPr>
          <a:xfrm>
            <a:off x="6629400" y="14668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主链实体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2489DA-9CA0-4743-9CC4-8DC11DC73EBA}"/>
              </a:ext>
            </a:extLst>
          </p:cNvPr>
          <p:cNvSpPr>
            <a:spLocks noGrp="1"/>
          </p:cNvSpPr>
          <p:nvPr/>
        </p:nvSpPr>
        <p:spPr>
          <a:xfrm>
            <a:off x="6629400" y="1828800"/>
            <a:ext cx="47053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app_user / student_auth / goods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trade_order / appointment / review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8626" y="2514600"/>
            <a:ext cx="10134748" cy="3657600"/>
          </a:xfrm>
          <a:prstGeom prst="roundRect">
            <a:avLst>
              <a:gd name="adj" fmla="val 5294"/>
            </a:avLst>
          </a:prstGeom>
        </p:spPr>
      </p:pic>
    </p:spTree>
    <p:extLst>
      <p:ext uri="{BB962C8B-B14F-4D97-AF65-F5344CB8AC3E}">
        <p14:creationId xmlns:p14="http://schemas.microsoft.com/office/powerpoint/2010/main" val="679843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1D119FF-B140-4579-9BBE-7642F3D2EB8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数据库封装层</a:t>
            </a:r>
            <a:endParaRPr sz="2550" b="1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2418D5-7FA5-4D44-AEDE-298A135ACDFA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EF24F40-E2C1-4A69-827D-D5774B42ECA9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7668A4-DE1E-4ECD-AE69-18AAF6C3230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1009650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Repository 统一管理连接、参数和数据库对象；Service 只表达业务步骤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A8BB839-3A91-48AB-8280-B136FD66FC47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5105400" cy="1409700"/>
          </a:xfrm>
          <a:prstGeom prst="roundRect">
            <a:avLst>
              <a:gd name="adj" fmla="val 9459"/>
            </a:avLst>
          </a:prstGeom>
          <a:solidFill>
            <a:srgbClr val="F3F8F8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2D2F4E-BE5C-4BBA-8242-F3EBA7E00A6F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视图 · 7 个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6ABD8C-44F6-4678-AE06-1A67FE4EC286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把多表 SELECT 预先写好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6D3031-2F2D-4EBA-9A85-104C9516AAD0}"/>
              </a:ext>
            </a:extLst>
          </p:cNvPr>
          <p:cNvSpPr>
            <a:spLocks noGrp="1"/>
          </p:cNvSpPr>
          <p:nvPr/>
        </p:nvSpPr>
        <p:spPr>
          <a:xfrm>
            <a:off x="828675" y="28003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lang="zh-CN" altLang="zh-CN" sz="1050" dirty="0">
                <a:solidFill>
                  <a:srgbClr val="5C6B75"/>
                </a:solidFill>
                <a:latin typeface="Consolas"/>
              </a:rPr>
              <a:t>例：v_goods_list，封装商品、卖家、分类和首图的关联查询。</a:t>
            </a:r>
            <a:endParaRPr sz="1050" b="0" dirty="0">
              <a:solidFill>
                <a:srgbClr val="5C6B7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4B5FEDE-112A-407B-BAE1-A8FCA2B86AD1}"/>
              </a:ext>
            </a:extLst>
          </p:cNvPr>
          <p:cNvSpPr>
            <a:spLocks noGrp="1"/>
          </p:cNvSpPr>
          <p:nvPr/>
        </p:nvSpPr>
        <p:spPr>
          <a:xfrm>
            <a:off x="6096000" y="1847850"/>
            <a:ext cx="5105400" cy="1409700"/>
          </a:xfrm>
          <a:prstGeom prst="roundRect">
            <a:avLst>
              <a:gd name="adj" fmla="val 9459"/>
            </a:avLst>
          </a:prstGeom>
          <a:solidFill>
            <a:srgbClr val="F3F8F8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F73CE6-DBC0-4F23-A78E-710E912CB6EF}"/>
              </a:ext>
            </a:extLst>
          </p:cNvPr>
          <p:cNvSpPr>
            <a:spLocks noGrp="1"/>
          </p:cNvSpPr>
          <p:nvPr/>
        </p:nvSpPr>
        <p:spPr>
          <a:xfrm>
            <a:off x="6305550" y="200025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函数 · 7 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B276FB-96EF-40CB-8314-0B4E4D0922C3}"/>
              </a:ext>
            </a:extLst>
          </p:cNvPr>
          <p:cNvSpPr>
            <a:spLocks noGrp="1"/>
          </p:cNvSpPr>
          <p:nvPr/>
        </p:nvSpPr>
        <p:spPr>
          <a:xfrm>
            <a:off x="6305550" y="234315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输入参数，返回一个判断或计算值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8A2173B-9072-4488-8B65-E96B7545EA95}"/>
              </a:ext>
            </a:extLst>
          </p:cNvPr>
          <p:cNvSpPr>
            <a:spLocks noGrp="1"/>
          </p:cNvSpPr>
          <p:nvPr/>
        </p:nvSpPr>
        <p:spPr>
          <a:xfrm>
            <a:off x="6305550" y="2762250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lang="zh-CN" altLang="zh-CN" sz="1050" dirty="0">
                <a:solidFill>
                  <a:srgbClr val="5C6B75"/>
                </a:solidFill>
                <a:latin typeface="Consolas"/>
              </a:rPr>
              <a:t>例：fn_can_purchase，返回当前用户能否购买该商品。</a:t>
            </a:r>
            <a:endParaRPr sz="1050" b="0" dirty="0">
              <a:solidFill>
                <a:srgbClr val="5C6B7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9ABB58F-834B-44FD-9BE8-F8233FFE92B9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5105400" cy="1409700"/>
          </a:xfrm>
          <a:prstGeom prst="roundRect">
            <a:avLst>
              <a:gd name="adj" fmla="val 9459"/>
            </a:avLst>
          </a:prstGeom>
          <a:solidFill>
            <a:srgbClr val="FFF1EF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CC4002-5441-4D4C-A34D-CC14F682D97C}"/>
              </a:ext>
            </a:extLst>
          </p:cNvPr>
          <p:cNvSpPr>
            <a:spLocks noGrp="1"/>
          </p:cNvSpPr>
          <p:nvPr/>
        </p:nvSpPr>
        <p:spPr>
          <a:xfrm>
            <a:off x="819150" y="36957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存储过程 · 13 个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ED9E06-65A9-46FA-A741-F899D28E6FB2}"/>
              </a:ext>
            </a:extLst>
          </p:cNvPr>
          <p:cNvSpPr>
            <a:spLocks noGrp="1"/>
          </p:cNvSpPr>
          <p:nvPr/>
        </p:nvSpPr>
        <p:spPr>
          <a:xfrm>
            <a:off x="819150" y="40386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把多步写操作包进同一事务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1C7F60-8098-47D9-9D11-3F29B560F339}"/>
              </a:ext>
            </a:extLst>
          </p:cNvPr>
          <p:cNvSpPr>
            <a:spLocks noGrp="1"/>
          </p:cNvSpPr>
          <p:nvPr/>
        </p:nvSpPr>
        <p:spPr>
          <a:xfrm>
            <a:off x="828675" y="4500172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lang="zh-CN" altLang="zh-CN" sz="1050" dirty="0">
                <a:solidFill>
                  <a:srgbClr val="5C6B75"/>
                </a:solidFill>
                <a:latin typeface="Consolas"/>
              </a:rPr>
              <a:t>sp_place_order，完成锁定商品、关闭议价和创建订单。</a:t>
            </a:r>
            <a:endParaRPr sz="1050" b="0" dirty="0">
              <a:solidFill>
                <a:srgbClr val="5C6B7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8BCB0AF-2511-4ED9-82DD-E62FC807EA97}"/>
              </a:ext>
            </a:extLst>
          </p:cNvPr>
          <p:cNvSpPr>
            <a:spLocks noGrp="1"/>
          </p:cNvSpPr>
          <p:nvPr/>
        </p:nvSpPr>
        <p:spPr>
          <a:xfrm>
            <a:off x="6096000" y="3543300"/>
            <a:ext cx="5105400" cy="1409700"/>
          </a:xfrm>
          <a:prstGeom prst="roundRect">
            <a:avLst>
              <a:gd name="adj" fmla="val 9459"/>
            </a:avLst>
          </a:prstGeom>
          <a:solidFill>
            <a:srgbClr val="F3F8F8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0C4899-CFD6-4BBB-A2BF-645EF573C005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触发器 · 12 个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5B0E1A-795C-4067-8988-21CA0CA5514D}"/>
              </a:ext>
            </a:extLst>
          </p:cNvPr>
          <p:cNvSpPr>
            <a:spLocks noGrp="1"/>
          </p:cNvSpPr>
          <p:nvPr/>
        </p:nvSpPr>
        <p:spPr>
          <a:xfrm>
            <a:off x="6305550" y="4038600"/>
            <a:ext cx="466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表发生写入时自动执行规则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E643F2-D8BA-42E5-8879-41B15A5FBCFE}"/>
              </a:ext>
            </a:extLst>
          </p:cNvPr>
          <p:cNvSpPr>
            <a:spLocks noGrp="1"/>
          </p:cNvSpPr>
          <p:nvPr/>
        </p:nvSpPr>
        <p:spPr>
          <a:xfrm>
            <a:off x="6305550" y="4486275"/>
            <a:ext cx="46672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lang="zh-CN" altLang="zh-CN" sz="1050" dirty="0">
                <a:solidFill>
                  <a:srgbClr val="5C6B75"/>
                </a:solidFill>
                <a:latin typeface="Consolas"/>
              </a:rPr>
              <a:t>trg_prevent_self_trade，写入订单时自动阻止自买自卖。</a:t>
            </a:r>
            <a:endParaRPr sz="1050" b="0" dirty="0">
              <a:solidFill>
                <a:srgbClr val="5C6B7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1B82BE9-8CCF-46EB-89E8-749123570477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839450" cy="609600"/>
          </a:xfrm>
          <a:prstGeom prst="roundRect">
            <a:avLst>
              <a:gd name="adj" fmla="val 18750"/>
            </a:avLst>
          </a:prstGeom>
          <a:solidFill>
            <a:srgbClr val="DDF3EE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3B6AFF-CA6E-4D23-B39F-14E9D538678F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rPr>
              <a:t>调用方向：Service → Repository → Dapper 参数化调用 → View / Function / Procedure；Trigger 由 Oracle 自动执行。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642CDC-782F-4041-A267-7C016C890CE1}"/>
              </a:ext>
            </a:extLst>
          </p:cNvPr>
          <p:cNvSpPr>
            <a:spLocks noGrp="1"/>
          </p:cNvSpPr>
          <p:nvPr/>
        </p:nvSpPr>
        <p:spPr>
          <a:xfrm>
            <a:off x="609600" y="6486525"/>
            <a:ext cx="102870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8791"/>
                </a:solidFill>
                <a:latin typeface="Microsoft YaHei"/>
                <a:ea typeface="Microsoft YaHei"/>
                <a:cs typeface="Microsoft YaHei"/>
              </a:rPr>
              <a:t>12 个触发器 = 5 个 updated_at 触发器 + 7 个业务触发器</a:t>
            </a:r>
          </a:p>
        </p:txBody>
      </p:sp>
    </p:spTree>
    <p:extLst>
      <p:ext uri="{BB962C8B-B14F-4D97-AF65-F5344CB8AC3E}">
        <p14:creationId xmlns:p14="http://schemas.microsoft.com/office/powerpoint/2010/main" val="91958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1594739-4FC8-4201-90F5-3FFEF56A5C9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550" b="1" dirty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例：</a:t>
            </a:r>
            <a:r>
              <a:rPr sz="2550" b="1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sp_place_order</a:t>
            </a:r>
            <a:r>
              <a:rPr sz="2550" b="1" dirty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下单事务</a:t>
            </a:r>
            <a:endParaRPr sz="2550" b="1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C3C4B7-0651-44A1-820A-C40BF5DB340D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38844BF-5ED7-4679-953A-BCFC126F3A93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1DD4542-C54C-4CEB-9421-BAA490C215F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6477000" cy="4286250"/>
          </a:xfrm>
          <a:prstGeom prst="roundRect">
            <a:avLst>
              <a:gd name="adj" fmla="val 3111"/>
            </a:avLst>
          </a:prstGeom>
          <a:solidFill>
            <a:srgbClr val="F3F6F7"/>
          </a:solidFill>
          <a:ln w="9525">
            <a:solidFill>
              <a:srgbClr val="CAD6D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E088C6-2BF6-4A78-AEF6-072165F9008B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590550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SELECT seller_id INTO v_seller_id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FROM goods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WHERE goods_id = p_goods_id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AND goods_status = 'approved'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FOR UPDATE;</a:t>
            </a:r>
          </a:p>
          <a:p>
            <a:endParaRPr sz="1350" b="0">
              <a:solidFill>
                <a:srgbClr val="172B3A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UPDATE goods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SET goods_status = 'locked'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WHERE goods_id = p_goods_id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AND goods_status = 'approved';</a:t>
            </a:r>
          </a:p>
          <a:p>
            <a:endParaRPr sz="1350" b="0">
              <a:solidFill>
                <a:srgbClr val="172B3A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IF SQL%ROWCOUNT != 1 THEN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  RAISE_APPLICATION_ERROR(-20021, '商品已被锁定');</a:t>
            </a:r>
          </a:p>
          <a:p>
            <a:pPr algn="l">
              <a:defRPr sz="135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END IF;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3C4DC2-667E-405B-BDA9-C25DCA076785}"/>
              </a:ext>
            </a:extLst>
          </p:cNvPr>
          <p:cNvSpPr>
            <a:spLocks noGrp="1"/>
          </p:cNvSpPr>
          <p:nvPr/>
        </p:nvSpPr>
        <p:spPr>
          <a:xfrm>
            <a:off x="7524750" y="1466850"/>
            <a:ext cx="40005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一次调用完成资格校验与原子写入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DC2FA1-A69C-4148-BB94-A9AFBEDAB5C5}"/>
              </a:ext>
            </a:extLst>
          </p:cNvPr>
          <p:cNvSpPr>
            <a:spLocks noGrp="1"/>
          </p:cNvSpPr>
          <p:nvPr/>
        </p:nvSpPr>
        <p:spPr>
          <a:xfrm>
            <a:off x="7581900" y="23431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B5DBE0-51D4-4C64-A31D-4EE003B5E737}"/>
              </a:ext>
            </a:extLst>
          </p:cNvPr>
          <p:cNvSpPr>
            <a:spLocks noGrp="1"/>
          </p:cNvSpPr>
          <p:nvPr/>
        </p:nvSpPr>
        <p:spPr>
          <a:xfrm>
            <a:off x="8096250" y="2343150"/>
            <a:ext cx="34861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fn_can_purchase</a:t>
            </a:r>
            <a:r>
              <a:rPr sz="1350" b="0" dirty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校验买家状态和信用分，并禁止自买</a:t>
            </a:r>
            <a:endParaRPr sz="1350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FE9065-8AB3-4356-8107-6B4073343556}"/>
              </a:ext>
            </a:extLst>
          </p:cNvPr>
          <p:cNvSpPr>
            <a:spLocks noGrp="1"/>
          </p:cNvSpPr>
          <p:nvPr/>
        </p:nvSpPr>
        <p:spPr>
          <a:xfrm>
            <a:off x="7581900" y="31623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C1CF39-F1C8-4AB6-B4C1-FF6B6063F036}"/>
              </a:ext>
            </a:extLst>
          </p:cNvPr>
          <p:cNvSpPr>
            <a:spLocks noGrp="1"/>
          </p:cNvSpPr>
          <p:nvPr/>
        </p:nvSpPr>
        <p:spPr>
          <a:xfrm>
            <a:off x="8096250" y="318135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SELECT FOR UPDATE 锁定 goods 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6BFAB-4E39-4CD2-A223-90529F4172E6}"/>
              </a:ext>
            </a:extLst>
          </p:cNvPr>
          <p:cNvSpPr>
            <a:spLocks noGrp="1"/>
          </p:cNvSpPr>
          <p:nvPr/>
        </p:nvSpPr>
        <p:spPr>
          <a:xfrm>
            <a:off x="7581900" y="39433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590DDF-49D0-49A3-B453-7C5DCBEC6C52}"/>
              </a:ext>
            </a:extLst>
          </p:cNvPr>
          <p:cNvSpPr>
            <a:spLocks noGrp="1"/>
          </p:cNvSpPr>
          <p:nvPr/>
        </p:nvSpPr>
        <p:spPr>
          <a:xfrm>
            <a:off x="8096250" y="3962400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关闭该买家的活跃议价并插入 trade_order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AFDE16-9E81-4838-B64C-6867F8FDE5F9}"/>
              </a:ext>
            </a:extLst>
          </p:cNvPr>
          <p:cNvSpPr>
            <a:spLocks noGrp="1"/>
          </p:cNvSpPr>
          <p:nvPr/>
        </p:nvSpPr>
        <p:spPr>
          <a:xfrm>
            <a:off x="7581900" y="48196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B1C764-CD66-4B30-9B31-B5F0BEDF7B67}"/>
              </a:ext>
            </a:extLst>
          </p:cNvPr>
          <p:cNvSpPr>
            <a:spLocks noGrp="1"/>
          </p:cNvSpPr>
          <p:nvPr/>
        </p:nvSpPr>
        <p:spPr>
          <a:xfrm>
            <a:off x="8096250" y="48196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任一步失败执行 ROLLBACK，商品已锁定返回 ORA-20021</a:t>
            </a:r>
          </a:p>
        </p:txBody>
      </p:sp>
    </p:spTree>
    <p:extLst>
      <p:ext uri="{BB962C8B-B14F-4D97-AF65-F5344CB8AC3E}">
        <p14:creationId xmlns:p14="http://schemas.microsoft.com/office/powerpoint/2010/main" val="1895596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269B109-4DC6-48B9-A607-21F333A3B26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认证实现与 AI 服务边界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830C19-B726-48D6-BF60-872682CB591E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CFBFDAE-A625-4E86-BAB7-D8093790D5D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45815E-6620-4414-B225-1307C3796E2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登录认证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F6C822-4DFA-440C-ADE8-4F4D6126971F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4095750" cy="3048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Sha256PasswordHasher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SHA256 生成 64 位十六进制摘要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FixedTimeEquals 比较摘要</a:t>
            </a:r>
          </a:p>
          <a:p>
            <a:endParaRPr sz="1350" b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SignedTokenService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负载保存 userId 和过期时间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HMAC-SHA256 生成签名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AuthenticationHandler 解析 Bearer Token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EBCA80-A4F2-4315-920F-CC7EBC33F6F0}"/>
              </a:ext>
            </a:extLst>
          </p:cNvPr>
          <p:cNvSpPr>
            <a:spLocks noGrp="1"/>
          </p:cNvSpPr>
          <p:nvPr/>
        </p:nvSpPr>
        <p:spPr>
          <a:xfrm>
            <a:off x="5314950" y="1257300"/>
            <a:ext cx="19050" cy="4476750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2BA6B1-8BB6-4781-9014-93B728C14C91}"/>
              </a:ext>
            </a:extLst>
          </p:cNvPr>
          <p:cNvSpPr>
            <a:spLocks noGrp="1"/>
          </p:cNvSpPr>
          <p:nvPr/>
        </p:nvSpPr>
        <p:spPr>
          <a:xfrm>
            <a:off x="5848350" y="1371600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AI 帮助接口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E9E2D1-671C-45AA-B22B-82761969F17E}"/>
              </a:ext>
            </a:extLst>
          </p:cNvPr>
          <p:cNvSpPr>
            <a:spLocks noGrp="1"/>
          </p:cNvSpPr>
          <p:nvPr/>
        </p:nvSpPr>
        <p:spPr>
          <a:xfrm>
            <a:off x="5867400" y="1943100"/>
            <a:ext cx="5143500" cy="3238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POST /api/ai/chat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AiKnowledgeService 检索《使用手册》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AiChatService 组装 system prompt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HttpClient 调用 DeepSeek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Content.CopyToAsync 转发 SSE 流</a:t>
            </a:r>
          </a:p>
          <a:p>
            <a:endParaRPr sz="1350" b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限制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知识库不加载数据库与开发文档</a:t>
            </a:r>
          </a:p>
          <a:p>
            <a:pPr algn="l">
              <a:def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服务不读取 app_user、goods、order 等表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050D19B-DF3F-4FCF-9D3E-9C7026FFF34B}"/>
              </a:ext>
            </a:extLst>
          </p:cNvPr>
          <p:cNvSpPr>
            <a:spLocks noGrp="1"/>
          </p:cNvSpPr>
          <p:nvPr/>
        </p:nvSpPr>
        <p:spPr>
          <a:xfrm>
            <a:off x="5848350" y="5257800"/>
            <a:ext cx="4953000" cy="514350"/>
          </a:xfrm>
          <a:prstGeom prst="roundRect">
            <a:avLst>
              <a:gd name="adj" fmla="val 18519"/>
            </a:avLst>
          </a:prstGeom>
          <a:solidFill>
            <a:srgbClr val="DDF3EE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AF63EC-8DAE-4E8B-A2AD-B074A82DA46F}"/>
              </a:ext>
            </a:extLst>
          </p:cNvPr>
          <p:cNvSpPr>
            <a:spLocks noGrp="1"/>
          </p:cNvSpPr>
          <p:nvPr/>
        </p:nvSpPr>
        <p:spPr>
          <a:xfrm>
            <a:off x="6076950" y="5391150"/>
            <a:ext cx="44767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200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rPr>
              <a:t>外部 AI 请求失败时，商品与订单接口仍可使用</a:t>
            </a:r>
          </a:p>
        </p:txBody>
      </p:sp>
    </p:spTree>
    <p:extLst>
      <p:ext uri="{BB962C8B-B14F-4D97-AF65-F5344CB8AC3E}">
        <p14:creationId xmlns:p14="http://schemas.microsoft.com/office/powerpoint/2010/main" val="101172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4280F2FF-7123-410A-AFBC-A294F088D89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主要接口与数据库落点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CD97B2-43BC-4B6D-A8E1-8051253E8559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ACDFBB6-8258-4885-8492-16FB122DEE0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A37A75-8846-4044-B5FC-2393326838F1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8001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每类接口对应明确的 Repository 和数据库对象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3F76D-B26D-4DB7-AAAB-6E317FB43FB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HTTP 接口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5A420F-3677-4A09-B757-2677636EA9AB}"/>
              </a:ext>
            </a:extLst>
          </p:cNvPr>
          <p:cNvSpPr>
            <a:spLocks noGrp="1"/>
          </p:cNvSpPr>
          <p:nvPr/>
        </p:nvSpPr>
        <p:spPr>
          <a:xfrm>
            <a:off x="3981450" y="200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后端方法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26D70B-6F82-481A-92A3-6147814080C7}"/>
              </a:ext>
            </a:extLst>
          </p:cNvPr>
          <p:cNvSpPr>
            <a:spLocks noGrp="1"/>
          </p:cNvSpPr>
          <p:nvPr/>
        </p:nvSpPr>
        <p:spPr>
          <a:xfrm>
            <a:off x="8058150" y="200025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数据库对象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3507BE-82C7-4259-8B9A-EEEFF10C106C}"/>
              </a:ext>
            </a:extLst>
          </p:cNvPr>
          <p:cNvSpPr>
            <a:spLocks noGrp="1"/>
          </p:cNvSpPr>
          <p:nvPr/>
        </p:nvSpPr>
        <p:spPr>
          <a:xfrm>
            <a:off x="647700" y="2381250"/>
            <a:ext cx="10839450" cy="1905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39B1C3-4A26-4027-ABE2-5493C5844759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GET /api/goods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7C7405-8C37-4399-B4B1-B33A6CE2E942}"/>
              </a:ext>
            </a:extLst>
          </p:cNvPr>
          <p:cNvSpPr>
            <a:spLocks noGrp="1"/>
          </p:cNvSpPr>
          <p:nvPr/>
        </p:nvSpPr>
        <p:spPr>
          <a:xfrm>
            <a:off x="3981450" y="25717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GoodsRepository.GetPagedAsync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63EECC-497E-43F6-95D4-8C08FC8B9DD2}"/>
              </a:ext>
            </a:extLst>
          </p:cNvPr>
          <p:cNvSpPr>
            <a:spLocks noGrp="1"/>
          </p:cNvSpPr>
          <p:nvPr/>
        </p:nvSpPr>
        <p:spPr>
          <a:xfrm>
            <a:off x="8058150" y="25717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v_goods_list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166E39-02B3-41B4-987C-D1D0AAB34AB8}"/>
              </a:ext>
            </a:extLst>
          </p:cNvPr>
          <p:cNvSpPr>
            <a:spLocks noGrp="1"/>
          </p:cNvSpPr>
          <p:nvPr/>
        </p:nvSpPr>
        <p:spPr>
          <a:xfrm>
            <a:off x="647700" y="299085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B11D1E-9BB3-4238-936B-A3971EA41532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GET /api/goods/{id}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65334-0408-473E-B765-8D04B6FCBD60}"/>
              </a:ext>
            </a:extLst>
          </p:cNvPr>
          <p:cNvSpPr>
            <a:spLocks noGrp="1"/>
          </p:cNvSpPr>
          <p:nvPr/>
        </p:nvSpPr>
        <p:spPr>
          <a:xfrm>
            <a:off x="3981450" y="312420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GoodsRepository.GetByIdAsync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9586C9-1E80-432A-993C-845DC36D7735}"/>
              </a:ext>
            </a:extLst>
          </p:cNvPr>
          <p:cNvSpPr>
            <a:spLocks noGrp="1"/>
          </p:cNvSpPr>
          <p:nvPr/>
        </p:nvSpPr>
        <p:spPr>
          <a:xfrm>
            <a:off x="8058150" y="31242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125" b="0" dirty="0" err="1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v_goods_detail</a:t>
            </a:r>
            <a:endParaRPr sz="1125" b="0" dirty="0">
              <a:solidFill>
                <a:srgbClr val="172B3A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9A30ED-3AAC-4337-9BF7-9F04647A9BB0}"/>
              </a:ext>
            </a:extLst>
          </p:cNvPr>
          <p:cNvSpPr>
            <a:spLocks noGrp="1"/>
          </p:cNvSpPr>
          <p:nvPr/>
        </p:nvSpPr>
        <p:spPr>
          <a:xfrm>
            <a:off x="647700" y="354330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B1D8C6-9855-4E0B-9EA4-AA69F645236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POST /api/orders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FBA6B6-B775-480C-AE1E-F6B83AE0757A}"/>
              </a:ext>
            </a:extLst>
          </p:cNvPr>
          <p:cNvSpPr>
            <a:spLocks noGrp="1"/>
          </p:cNvSpPr>
          <p:nvPr/>
        </p:nvSpPr>
        <p:spPr>
          <a:xfrm>
            <a:off x="3981450" y="36766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OrderRepository.CreateAsync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4FC689-E35A-44E6-A8C0-F411CDE90923}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F06C5D"/>
                </a:solidFill>
                <a:latin typeface="Consolas"/>
                <a:ea typeface="Consolas"/>
                <a:cs typeface="Consolas"/>
              </a:defRPr>
            </a:pPr>
            <a:r>
              <a:rPr sz="1125" dirty="0" err="1">
                <a:solidFill>
                  <a:srgbClr val="172B3A"/>
                </a:solidFill>
                <a:latin typeface="Consolas"/>
              </a:rPr>
              <a:t>fn_can_purchase</a:t>
            </a:r>
            <a:r>
              <a:rPr sz="1125" dirty="0">
                <a:solidFill>
                  <a:srgbClr val="172B3A"/>
                </a:solidFill>
                <a:latin typeface="Consolas"/>
              </a:rPr>
              <a:t> + </a:t>
            </a:r>
            <a:r>
              <a:rPr sz="1125" dirty="0" err="1">
                <a:solidFill>
                  <a:srgbClr val="172B3A"/>
                </a:solidFill>
                <a:latin typeface="Consolas"/>
              </a:rPr>
              <a:t>sp_place_order</a:t>
            </a:r>
            <a:endParaRPr sz="1125" dirty="0">
              <a:solidFill>
                <a:srgbClr val="172B3A"/>
              </a:solidFill>
              <a:latin typeface="Consola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4A3910-400B-4226-80D3-120B46DC9D4D}"/>
              </a:ext>
            </a:extLst>
          </p:cNvPr>
          <p:cNvSpPr>
            <a:spLocks noGrp="1"/>
          </p:cNvSpPr>
          <p:nvPr/>
        </p:nvSpPr>
        <p:spPr>
          <a:xfrm>
            <a:off x="647700" y="409575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DF166D-FC71-492B-951A-0B8F20AC689C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PUT /api/orders/{id}/cancel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610E7D-415A-46B0-8627-1B56E27397DC}"/>
              </a:ext>
            </a:extLst>
          </p:cNvPr>
          <p:cNvSpPr>
            <a:spLocks noGrp="1"/>
          </p:cNvSpPr>
          <p:nvPr/>
        </p:nvSpPr>
        <p:spPr>
          <a:xfrm>
            <a:off x="3981450" y="422910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OrderRepository.CancelAsync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BAA758-F9D3-4FF8-9B21-A5F474C1A3D7}"/>
              </a:ext>
            </a:extLst>
          </p:cNvPr>
          <p:cNvSpPr>
            <a:spLocks noGrp="1"/>
          </p:cNvSpPr>
          <p:nvPr/>
        </p:nvSpPr>
        <p:spPr>
          <a:xfrm>
            <a:off x="8058150" y="42291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sp_cancel_order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0DA9A2-1122-4D13-AF86-71E56C62F21F}"/>
              </a:ext>
            </a:extLst>
          </p:cNvPr>
          <p:cNvSpPr>
            <a:spLocks noGrp="1"/>
          </p:cNvSpPr>
          <p:nvPr/>
        </p:nvSpPr>
        <p:spPr>
          <a:xfrm>
            <a:off x="647700" y="464820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3C68599-E854-4C41-B58C-EEFBE018FF05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PUT /api/orders/{id}/complete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1DEA69-D30D-4C34-9297-56AED2483967}"/>
              </a:ext>
            </a:extLst>
          </p:cNvPr>
          <p:cNvSpPr>
            <a:spLocks noGrp="1"/>
          </p:cNvSpPr>
          <p:nvPr/>
        </p:nvSpPr>
        <p:spPr>
          <a:xfrm>
            <a:off x="3981450" y="47815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OrderRepository.CompleteAsync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9B1A0B-7EE2-41A3-9DD9-A2627030A020}"/>
              </a:ext>
            </a:extLst>
          </p:cNvPr>
          <p:cNvSpPr>
            <a:spLocks noGrp="1"/>
          </p:cNvSpPr>
          <p:nvPr/>
        </p:nvSpPr>
        <p:spPr>
          <a:xfrm>
            <a:off x="8058150" y="478155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sp_complete_meet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CFF01B-0273-4E22-A113-B4241F3E6919}"/>
              </a:ext>
            </a:extLst>
          </p:cNvPr>
          <p:cNvSpPr>
            <a:spLocks noGrp="1"/>
          </p:cNvSpPr>
          <p:nvPr/>
        </p:nvSpPr>
        <p:spPr>
          <a:xfrm>
            <a:off x="647700" y="520065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500E41-3F5D-4A3A-B63B-D1261FF7EDF4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31051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POST /api/chat/messages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9A1B5B-DA70-429E-A0F3-E9E79D899FC5}"/>
              </a:ext>
            </a:extLst>
          </p:cNvPr>
          <p:cNvSpPr>
            <a:spLocks noGrp="1"/>
          </p:cNvSpPr>
          <p:nvPr/>
        </p:nvSpPr>
        <p:spPr>
          <a:xfrm>
            <a:off x="3981450" y="533400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00" b="0">
                <a:solidFill>
                  <a:srgbClr val="5C6B7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B75"/>
                </a:solidFill>
                <a:latin typeface="Consolas"/>
                <a:ea typeface="Consolas"/>
                <a:cs typeface="Consolas"/>
              </a:rPr>
              <a:t>ChatRepository.SendMessageAsync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7D7BC9-0381-4A25-B07F-A78FBAE3401A}"/>
              </a:ext>
            </a:extLst>
          </p:cNvPr>
          <p:cNvSpPr>
            <a:spLocks noGrp="1"/>
          </p:cNvSpPr>
          <p:nvPr/>
        </p:nvSpPr>
        <p:spPr>
          <a:xfrm>
            <a:off x="8058150" y="53340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0">
                <a:solidFill>
                  <a:srgbClr val="172B3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72B3A"/>
                </a:solidFill>
                <a:latin typeface="Consolas"/>
                <a:ea typeface="Consolas"/>
                <a:cs typeface="Consolas"/>
              </a:rPr>
              <a:t>sp_send_message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66E6B9-E673-41E5-8B8C-884FA622BAC2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7143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rPr>
              <a:t>统一响应：ApiResponse&lt;T&gt; = code + message + data</a:t>
            </a:r>
          </a:p>
        </p:txBody>
      </p:sp>
    </p:spTree>
    <p:extLst>
      <p:ext uri="{BB962C8B-B14F-4D97-AF65-F5344CB8AC3E}">
        <p14:creationId xmlns:p14="http://schemas.microsoft.com/office/powerpoint/2010/main" val="1867619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D6CCA5C9-656A-429F-9D93-FC402E5AF5D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验证脚本与重点场景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9C3BB6-526C-48E5-9D0C-103179DEC7E4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583C132-D753-4702-921C-3AC38F3F81A7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3C6D02-29B2-4D7D-ADC1-0EABE5482A82}"/>
              </a:ext>
            </a:extLst>
          </p:cNvPr>
          <p:cNvSpPr>
            <a:spLocks noGrp="1"/>
          </p:cNvSpPr>
          <p:nvPr/>
        </p:nvSpPr>
        <p:spPr>
          <a:xfrm>
            <a:off x="609600" y="12573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数据库脚本与 HTTP 测试分别验证数据规则和部署结果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D3E6C1-1788-4DDB-A8A9-0699726614E0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验证类别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64487B-4A59-4928-9C6F-8365D7E492A5}"/>
              </a:ext>
            </a:extLst>
          </p:cNvPr>
          <p:cNvSpPr>
            <a:spLocks noGrp="1"/>
          </p:cNvSpPr>
          <p:nvPr/>
        </p:nvSpPr>
        <p:spPr>
          <a:xfrm>
            <a:off x="2895600" y="2038350"/>
            <a:ext cx="4667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重点场景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8FA68F-A15E-405E-91AD-2EDC7F3F800A}"/>
              </a:ext>
            </a:extLst>
          </p:cNvPr>
          <p:cNvSpPr>
            <a:spLocks noGrp="1"/>
          </p:cNvSpPr>
          <p:nvPr/>
        </p:nvSpPr>
        <p:spPr>
          <a:xfrm>
            <a:off x="8496300" y="20383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预期结果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CFD2CB-8A5C-4A7C-8191-3AF2E5BC744E}"/>
              </a:ext>
            </a:extLst>
          </p:cNvPr>
          <p:cNvSpPr>
            <a:spLocks noGrp="1"/>
          </p:cNvSpPr>
          <p:nvPr/>
        </p:nvSpPr>
        <p:spPr>
          <a:xfrm>
            <a:off x="647700" y="2419350"/>
            <a:ext cx="10839450" cy="1905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F8EBAA-D73F-4192-AFE9-92D63B06D954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账户与权限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36700C-B373-4850-ACBA-712E75472604}"/>
              </a:ext>
            </a:extLst>
          </p:cNvPr>
          <p:cNvSpPr>
            <a:spLocks noGrp="1"/>
          </p:cNvSpPr>
          <p:nvPr/>
        </p:nvSpPr>
        <p:spPr>
          <a:xfrm>
            <a:off x="2895600" y="260985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唯一性、封禁登录、普通用户访问后台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B3F6E5-EA92-4918-8BC5-B060F50322D2}"/>
              </a:ext>
            </a:extLst>
          </p:cNvPr>
          <p:cNvSpPr>
            <a:spLocks noGrp="1"/>
          </p:cNvSpPr>
          <p:nvPr/>
        </p:nvSpPr>
        <p:spPr>
          <a:xfrm>
            <a:off x="8496300" y="260985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拒绝非法请求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F5CE92-3F93-451A-B60F-BEB803D51DF7}"/>
              </a:ext>
            </a:extLst>
          </p:cNvPr>
          <p:cNvSpPr>
            <a:spLocks noGrp="1"/>
          </p:cNvSpPr>
          <p:nvPr/>
        </p:nvSpPr>
        <p:spPr>
          <a:xfrm>
            <a:off x="647700" y="316230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1C6E93-4452-4C6D-B059-E9494FD3BB83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商品审核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428239-69B4-464B-955D-B080F4D0A1ED}"/>
              </a:ext>
            </a:extLst>
          </p:cNvPr>
          <p:cNvSpPr>
            <a:spLocks noGrp="1"/>
          </p:cNvSpPr>
          <p:nvPr/>
        </p:nvSpPr>
        <p:spPr>
          <a:xfrm>
            <a:off x="2895600" y="32766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待审、驳回、编辑后重新审核</a:t>
            </a:r>
            <a:endParaRPr sz="1275" b="0" dirty="0">
              <a:solidFill>
                <a:srgbClr val="5C6B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7A5BFA-0E44-4B1C-9291-02DB7896082E}"/>
              </a:ext>
            </a:extLst>
          </p:cNvPr>
          <p:cNvSpPr>
            <a:spLocks noGrp="1"/>
          </p:cNvSpPr>
          <p:nvPr/>
        </p:nvSpPr>
        <p:spPr>
          <a:xfrm>
            <a:off x="8496300" y="327660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仅 approved </a:t>
            </a:r>
            <a:r>
              <a:rPr sz="1275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公开</a:t>
            </a:r>
            <a:endParaRPr sz="1275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45853AF-6914-48BB-B67F-79BD71700AAB}"/>
              </a:ext>
            </a:extLst>
          </p:cNvPr>
          <p:cNvSpPr>
            <a:spLocks noGrp="1"/>
          </p:cNvSpPr>
          <p:nvPr/>
        </p:nvSpPr>
        <p:spPr>
          <a:xfrm>
            <a:off x="647700" y="382905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70135D-74C9-4B73-A10D-DB2B610D454F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交易并发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B60931-CA7A-4926-81CE-1F1D89173F40}"/>
              </a:ext>
            </a:extLst>
          </p:cNvPr>
          <p:cNvSpPr>
            <a:spLocks noGrp="1"/>
          </p:cNvSpPr>
          <p:nvPr/>
        </p:nvSpPr>
        <p:spPr>
          <a:xfrm>
            <a:off x="2895600" y="394335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同一商品由两位买家同时下单</a:t>
            </a:r>
            <a:endParaRPr sz="1275" b="0" dirty="0">
              <a:solidFill>
                <a:srgbClr val="5C6B7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665AAB-2998-48C0-B2A2-1FB60C1E2464}"/>
              </a:ext>
            </a:extLst>
          </p:cNvPr>
          <p:cNvSpPr>
            <a:spLocks noGrp="1"/>
          </p:cNvSpPr>
          <p:nvPr/>
        </p:nvSpPr>
        <p:spPr>
          <a:xfrm>
            <a:off x="8496300" y="3919537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r>
              <a:rPr sz="1275" dirty="0" err="1">
                <a:solidFill>
                  <a:srgbClr val="5C6B75"/>
                </a:solidFill>
                <a:latin typeface="Microsoft YaHei"/>
                <a:ea typeface="Microsoft YaHei"/>
              </a:rPr>
              <a:t>只生成一个有效订单</a:t>
            </a:r>
            <a:endParaRPr sz="1275" dirty="0">
              <a:solidFill>
                <a:srgbClr val="5C6B75"/>
              </a:solidFill>
              <a:latin typeface="Microsoft YaHei"/>
              <a:ea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13555A-F1DF-45DC-9383-3A2CFC264B09}"/>
              </a:ext>
            </a:extLst>
          </p:cNvPr>
          <p:cNvSpPr>
            <a:spLocks noGrp="1"/>
          </p:cNvSpPr>
          <p:nvPr/>
        </p:nvSpPr>
        <p:spPr>
          <a:xfrm>
            <a:off x="647700" y="449580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F16B8C-9D62-4808-92FA-99142329D2BD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面交确认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E1FA4C-41DD-4A26-BDFA-1BE9355D445A}"/>
              </a:ext>
            </a:extLst>
          </p:cNvPr>
          <p:cNvSpPr>
            <a:spLocks noGrp="1"/>
          </p:cNvSpPr>
          <p:nvPr/>
        </p:nvSpPr>
        <p:spPr>
          <a:xfrm>
            <a:off x="2895600" y="46101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预约确认码错误与正确两种输入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6166B4-EB98-4D56-AD01-1F3385B8172E}"/>
              </a:ext>
            </a:extLst>
          </p:cNvPr>
          <p:cNvSpPr>
            <a:spLocks noGrp="1"/>
          </p:cNvSpPr>
          <p:nvPr/>
        </p:nvSpPr>
        <p:spPr>
          <a:xfrm>
            <a:off x="8496300" y="461010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错误拒绝，正确完成</a:t>
            </a:r>
            <a:endParaRPr sz="1275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98F2AE-8015-4E5A-A0BC-9B987A5683A2}"/>
              </a:ext>
            </a:extLst>
          </p:cNvPr>
          <p:cNvSpPr>
            <a:spLocks noGrp="1"/>
          </p:cNvSpPr>
          <p:nvPr/>
        </p:nvSpPr>
        <p:spPr>
          <a:xfrm>
            <a:off x="647700" y="5162550"/>
            <a:ext cx="10839450" cy="9525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DEFE9C9-7945-4DC3-8A72-C5741F24E515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18097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异常恢复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E6889B-BC31-40D7-A2CB-5B4C3FA744E2}"/>
              </a:ext>
            </a:extLst>
          </p:cNvPr>
          <p:cNvSpPr>
            <a:spLocks noGrp="1"/>
          </p:cNvSpPr>
          <p:nvPr/>
        </p:nvSpPr>
        <p:spPr>
          <a:xfrm>
            <a:off x="2895600" y="527685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75"/>
                </a:solidFill>
                <a:latin typeface="Microsoft YaHei"/>
                <a:ea typeface="Microsoft YaHei"/>
                <a:cs typeface="Microsoft YaHei"/>
              </a:rPr>
              <a:t>外部 AI 服务不可用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BB70B4-E999-4E2B-AD6B-72459296BEB7}"/>
              </a:ext>
            </a:extLst>
          </p:cNvPr>
          <p:cNvSpPr>
            <a:spLocks noGrp="1"/>
          </p:cNvSpPr>
          <p:nvPr/>
        </p:nvSpPr>
        <p:spPr>
          <a:xfrm>
            <a:off x="8496300" y="527685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核心交易继续运行</a:t>
            </a:r>
            <a:endParaRPr sz="1275" b="0" dirty="0">
              <a:solidFill>
                <a:srgbClr val="172B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4DCAC1-4DCC-425F-96B6-61D623B2ECC4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endParaRPr sz="1350" b="1" dirty="0">
              <a:solidFill>
                <a:srgbClr val="0C5E5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6024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68D77943-7CBE-4533-800C-38667DA8269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09650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当前实现与改进项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49E7EC-B092-4907-AD90-EE5350980B75}"/>
              </a:ext>
            </a:extLst>
          </p:cNvPr>
          <p:cNvSpPr>
            <a:spLocks noGrp="1"/>
          </p:cNvSpPr>
          <p:nvPr/>
        </p:nvSpPr>
        <p:spPr>
          <a:xfrm>
            <a:off x="11096625" y="447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EE1B575-FAA1-49DE-B080-CCDBFCE66E4D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628650" cy="47625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4CC8A66-041F-4AE1-B886-3EC86453471C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95250" cy="3048000"/>
          </a:xfrm>
          <a:prstGeom prst="roundRect">
            <a:avLst>
              <a:gd name="adj" fmla="val 50000"/>
            </a:avLst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F7B87D-8900-4846-B818-1BCB58C794B8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061FDF-961C-4778-A274-1899C94C7400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4476750" cy="2209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31 项需求覆盖到前后端模块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15 张表完成主外键和唯一约束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下单、取消和面交由存储过程完成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商品、订单和消息查询使用视图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审核、评价和举报写入审计或信用规则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B73A3A9-7D57-409D-ADF6-CC4907EA32BA}"/>
              </a:ext>
            </a:extLst>
          </p:cNvPr>
          <p:cNvSpPr>
            <a:spLocks noGrp="1"/>
          </p:cNvSpPr>
          <p:nvPr/>
        </p:nvSpPr>
        <p:spPr>
          <a:xfrm>
            <a:off x="6153150" y="2152650"/>
            <a:ext cx="95250" cy="3048000"/>
          </a:xfrm>
          <a:prstGeom prst="roundRect">
            <a:avLst>
              <a:gd name="adj" fmla="val 50000"/>
            </a:avLst>
          </a:prstGeom>
          <a:solidFill>
            <a:srgbClr val="F06C5D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1426F3-BCC1-41EE-9CDE-D46370DD695E}"/>
              </a:ext>
            </a:extLst>
          </p:cNvPr>
          <p:cNvSpPr>
            <a:spLocks noGrp="1"/>
          </p:cNvSpPr>
          <p:nvPr/>
        </p:nvSpPr>
        <p:spPr>
          <a:xfrm>
            <a:off x="6534150" y="2152650"/>
            <a:ext cx="2095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50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后续改进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D0B2FD-0C67-484B-9D17-7FD2219A4342}"/>
              </a:ext>
            </a:extLst>
          </p:cNvPr>
          <p:cNvSpPr>
            <a:spLocks noGrp="1"/>
          </p:cNvSpPr>
          <p:nvPr/>
        </p:nvSpPr>
        <p:spPr>
          <a:xfrm>
            <a:off x="6534150" y="2647950"/>
            <a:ext cx="4476750" cy="2209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SHA256 密码摘要迁移到 Argon2 或 bcrypt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生产环境禁止使用默认 Token 签名密钥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删除 WeatherForecast 示例控制器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把 007_test.sql 和 tests/test.py 接入 CI</a:t>
            </a:r>
          </a:p>
          <a:p>
            <a:pPr algn="l">
              <a:def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补充接口限流、HTTPS 和输入清洗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CF8F7F-7E3B-48B4-B930-FEA885921574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19050"/>
          </a:xfrm>
          <a:prstGeom prst="rect">
            <a:avLst/>
          </a:prstGeom>
          <a:solidFill>
            <a:srgbClr val="CAD6D9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1429F2-EF54-4164-A8CB-8B26E31F4D75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0572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defRPr sz="1575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C5E5B"/>
                </a:solidFill>
                <a:latin typeface="Microsoft YaHei"/>
                <a:ea typeface="Microsoft YaHei"/>
                <a:cs typeface="Microsoft YaHei"/>
              </a:rPr>
              <a:t>课程设计重点：用 Oracle 约束、函数、存储过程和触发器实现交易一致性</a:t>
            </a:r>
          </a:p>
        </p:txBody>
      </p:sp>
    </p:spTree>
    <p:extLst>
      <p:ext uri="{BB962C8B-B14F-4D97-AF65-F5344CB8AC3E}">
        <p14:creationId xmlns:p14="http://schemas.microsoft.com/office/powerpoint/2010/main" val="357221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DD42FD0-48F7-48ED-9E1D-4380AE8A1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D8C87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916AD2B-8071-458A-A28B-C67D549FC3B1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4191000" cy="838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4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090CE6-32AB-4773-A8BC-DCE53B64FC52}"/>
              </a:ext>
            </a:extLst>
          </p:cNvPr>
          <p:cNvSpPr>
            <a:spLocks noGrp="1"/>
          </p:cNvSpPr>
          <p:nvPr/>
        </p:nvSpPr>
        <p:spPr>
          <a:xfrm>
            <a:off x="800100" y="249555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D8C87"/>
                </a:solidFill>
                <a:latin typeface="Microsoft YaHei"/>
                <a:ea typeface="Microsoft YaHei"/>
                <a:cs typeface="Microsoft YaHei"/>
              </a:rPr>
              <a:t>欢迎提问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5C4633-1CF7-490C-985F-FE91CA3E288C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06C5D"/>
                </a:solidFill>
                <a:latin typeface="Microsoft YaHei"/>
                <a:ea typeface="Microsoft YaHei"/>
                <a:cs typeface="Microsoft YaHei"/>
              </a:rPr>
              <a:t>校园二手交易系统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l="15100" r="15100"/>
          <a:stretch>
            <a:fillRect/>
          </a:stretch>
        </p:blipFill>
        <p:spPr>
          <a:xfrm>
            <a:off x="6210300" y="723900"/>
            <a:ext cx="4857750" cy="5219700"/>
          </a:xfrm>
          <a:prstGeom prst="roundRect">
            <a:avLst>
              <a:gd name="adj" fmla="val 3529"/>
            </a:avLst>
          </a:prstGeom>
        </p:spPr>
      </p:pic>
    </p:spTree>
    <p:extLst>
      <p:ext uri="{BB962C8B-B14F-4D97-AF65-F5344CB8AC3E}">
        <p14:creationId xmlns:p14="http://schemas.microsoft.com/office/powerpoint/2010/main" val="7900772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1619</Words>
  <Application>Microsoft Office PowerPoint</Application>
  <DocSecurity>0</DocSecurity>
  <PresentationFormat>宽屏</PresentationFormat>
  <Paragraphs>429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4x fox</cp:lastModifiedBy>
  <cp:revision>18</cp:revision>
  <dcterms:created xsi:type="dcterms:W3CDTF">2026-09-10T13:09:19Z</dcterms:created>
  <dcterms:modified xsi:type="dcterms:W3CDTF">2026-09-10T13:44:28Z</dcterms:modified>
</cp:coreProperties>
</file>